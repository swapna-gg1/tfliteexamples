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30"/>
  </p:notesMasterIdLst>
  <p:handoutMasterIdLst>
    <p:handoutMasterId r:id="rId31"/>
  </p:handoutMasterIdLst>
  <p:sldIdLst>
    <p:sldId id="1958" r:id="rId5"/>
    <p:sldId id="2103813506" r:id="rId6"/>
    <p:sldId id="2103813502" r:id="rId7"/>
    <p:sldId id="2103813503" r:id="rId8"/>
    <p:sldId id="2103813499" r:id="rId9"/>
    <p:sldId id="43217" r:id="rId10"/>
    <p:sldId id="1959" r:id="rId11"/>
    <p:sldId id="2103812905" r:id="rId12"/>
    <p:sldId id="2103813500" r:id="rId13"/>
    <p:sldId id="43224" r:id="rId14"/>
    <p:sldId id="37648" r:id="rId15"/>
    <p:sldId id="2103812787" r:id="rId16"/>
    <p:sldId id="2103813507" r:id="rId17"/>
    <p:sldId id="2103812879" r:id="rId18"/>
    <p:sldId id="2103812880" r:id="rId19"/>
    <p:sldId id="2103812877" r:id="rId20"/>
    <p:sldId id="2103813505" r:id="rId21"/>
    <p:sldId id="2103812882" r:id="rId22"/>
    <p:sldId id="2103812881" r:id="rId23"/>
    <p:sldId id="2103812883" r:id="rId24"/>
    <p:sldId id="2103812884" r:id="rId25"/>
    <p:sldId id="2103812885" r:id="rId26"/>
    <p:sldId id="2103813508" r:id="rId27"/>
    <p:sldId id="2103813509" r:id="rId28"/>
    <p:sldId id="2103813504" r:id="rId29"/>
  </p:sldIdLst>
  <p:sldSz cx="12188825" cy="6858000"/>
  <p:notesSz cx="6858000" cy="9144000"/>
  <p:defaultText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 userDrawn="1">
          <p15:clr>
            <a:srgbClr val="A4A3A4"/>
          </p15:clr>
        </p15:guide>
        <p15:guide id="2" pos="24" userDrawn="1">
          <p15:clr>
            <a:srgbClr val="A4A3A4"/>
          </p15:clr>
        </p15:guide>
        <p15:guide id="3" orient="horz" pos="80">
          <p15:clr>
            <a:srgbClr val="A4A3A4"/>
          </p15:clr>
        </p15:guide>
        <p15:guide id="4" pos="32">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7777"/>
    <a:srgbClr val="070707"/>
    <a:srgbClr val="0E3689"/>
    <a:srgbClr val="1D9CE4"/>
    <a:srgbClr val="FFD53A"/>
    <a:srgbClr val="702076"/>
    <a:srgbClr val="5EBF33"/>
    <a:srgbClr val="FD7F20"/>
    <a:srgbClr val="0E1454"/>
    <a:srgbClr val="CE16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867" autoAdjust="0"/>
  </p:normalViewPr>
  <p:slideViewPr>
    <p:cSldViewPr snapToGrid="0" snapToObjects="1">
      <p:cViewPr varScale="1">
        <p:scale>
          <a:sx n="104" d="100"/>
          <a:sy n="104" d="100"/>
        </p:scale>
        <p:origin x="816" y="96"/>
      </p:cViewPr>
      <p:guideLst>
        <p:guide orient="horz" pos="60"/>
        <p:guide pos="24"/>
        <p:guide orient="horz" pos="80"/>
        <p:guide pos="3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111" d="100"/>
          <a:sy n="111" d="100"/>
        </p:scale>
        <p:origin x="3832"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439C997-21E5-5348-AFE6-AB6F922648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27AC1D-5903-004B-A07D-BA6E3EE372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8615C2D-FB91-8740-95C2-23C11A10F2F2}" type="datetimeFigureOut">
              <a:rPr lang="en-US" smtClean="0"/>
              <a:t>6/5/2025</a:t>
            </a:fld>
            <a:endParaRPr lang="en-US"/>
          </a:p>
        </p:txBody>
      </p:sp>
      <p:sp>
        <p:nvSpPr>
          <p:cNvPr id="4" name="Footer Placeholder 3">
            <a:extLst>
              <a:ext uri="{FF2B5EF4-FFF2-40B4-BE49-F238E27FC236}">
                <a16:creationId xmlns:a16="http://schemas.microsoft.com/office/drawing/2014/main" id="{2D179EA0-CF08-6C46-9B0C-7A703F62F2C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E1E23A1-2359-A341-AFD4-DCB4B7D003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89837C5-E66E-4749-8D3A-655388B1EB70}" type="slidenum">
              <a:rPr lang="en-US" smtClean="0"/>
              <a:t>‹#›</a:t>
            </a:fld>
            <a:endParaRPr lang="en-US"/>
          </a:p>
        </p:txBody>
      </p:sp>
    </p:spTree>
    <p:extLst>
      <p:ext uri="{BB962C8B-B14F-4D97-AF65-F5344CB8AC3E}">
        <p14:creationId xmlns:p14="http://schemas.microsoft.com/office/powerpoint/2010/main" val="15322273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54E49F-5C3A-ED4E-A68A-CCB3AA3B5D59}" type="datetimeFigureOut">
              <a:rPr lang="en-US" smtClean="0"/>
              <a:t>6/4/2025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F8CB49-A7FB-5E4A-B599-DE2118135120}" type="slidenum">
              <a:rPr lang="en-US" smtClean="0"/>
              <a:t>‹#›</a:t>
            </a:fld>
            <a:endParaRPr lang="en-US"/>
          </a:p>
        </p:txBody>
      </p:sp>
    </p:spTree>
    <p:extLst>
      <p:ext uri="{BB962C8B-B14F-4D97-AF65-F5344CB8AC3E}">
        <p14:creationId xmlns:p14="http://schemas.microsoft.com/office/powerpoint/2010/main" val="1462241416"/>
      </p:ext>
    </p:extLst>
  </p:cSld>
  <p:clrMap bg1="lt1" tx1="dk1" bg2="lt2" tx2="dk2" accent1="accent1" accent2="accent2" accent3="accent3" accent4="accent4" accent5="accent5" accent6="accent6" hlink="hlink" folHlink="folHlink"/>
  <p:hf hdr="0" ftr="0" dt="0"/>
  <p:notesStyle>
    <a:lvl1pPr marL="0" algn="l" defTabSz="1218936" rtl="0" eaLnBrk="1" latinLnBrk="0" hangingPunct="1">
      <a:defRPr sz="1600" kern="1200">
        <a:solidFill>
          <a:schemeClr val="tx1"/>
        </a:solidFill>
        <a:latin typeface="+mn-lt"/>
        <a:ea typeface="+mn-ea"/>
        <a:cs typeface="+mn-cs"/>
      </a:defRPr>
    </a:lvl1pPr>
    <a:lvl2pPr marL="609468" algn="l" defTabSz="1218936" rtl="0" eaLnBrk="1" latinLnBrk="0" hangingPunct="1">
      <a:defRPr sz="1600" kern="1200">
        <a:solidFill>
          <a:schemeClr val="tx1"/>
        </a:solidFill>
        <a:latin typeface="+mn-lt"/>
        <a:ea typeface="+mn-ea"/>
        <a:cs typeface="+mn-cs"/>
      </a:defRPr>
    </a:lvl2pPr>
    <a:lvl3pPr marL="1218936" algn="l" defTabSz="1218936" rtl="0" eaLnBrk="1" latinLnBrk="0" hangingPunct="1">
      <a:defRPr sz="1600" kern="1200">
        <a:solidFill>
          <a:schemeClr val="tx1"/>
        </a:solidFill>
        <a:latin typeface="+mn-lt"/>
        <a:ea typeface="+mn-ea"/>
        <a:cs typeface="+mn-cs"/>
      </a:defRPr>
    </a:lvl3pPr>
    <a:lvl4pPr marL="1828404" algn="l" defTabSz="1218936" rtl="0" eaLnBrk="1" latinLnBrk="0" hangingPunct="1">
      <a:defRPr sz="1600" kern="1200">
        <a:solidFill>
          <a:schemeClr val="tx1"/>
        </a:solidFill>
        <a:latin typeface="+mn-lt"/>
        <a:ea typeface="+mn-ea"/>
        <a:cs typeface="+mn-cs"/>
      </a:defRPr>
    </a:lvl4pPr>
    <a:lvl5pPr marL="2437872" algn="l" defTabSz="1218936" rtl="0" eaLnBrk="1" latinLnBrk="0" hangingPunct="1">
      <a:defRPr sz="1600" kern="1200">
        <a:solidFill>
          <a:schemeClr val="tx1"/>
        </a:solidFill>
        <a:latin typeface="+mn-lt"/>
        <a:ea typeface="+mn-ea"/>
        <a:cs typeface="+mn-cs"/>
      </a:defRPr>
    </a:lvl5pPr>
    <a:lvl6pPr marL="3047340" algn="l" defTabSz="1218936" rtl="0" eaLnBrk="1" latinLnBrk="0" hangingPunct="1">
      <a:defRPr sz="1600" kern="1200">
        <a:solidFill>
          <a:schemeClr val="tx1"/>
        </a:solidFill>
        <a:latin typeface="+mn-lt"/>
        <a:ea typeface="+mn-ea"/>
        <a:cs typeface="+mn-cs"/>
      </a:defRPr>
    </a:lvl6pPr>
    <a:lvl7pPr marL="3656808" algn="l" defTabSz="1218936" rtl="0" eaLnBrk="1" latinLnBrk="0" hangingPunct="1">
      <a:defRPr sz="1600" kern="1200">
        <a:solidFill>
          <a:schemeClr val="tx1"/>
        </a:solidFill>
        <a:latin typeface="+mn-lt"/>
        <a:ea typeface="+mn-ea"/>
        <a:cs typeface="+mn-cs"/>
      </a:defRPr>
    </a:lvl7pPr>
    <a:lvl8pPr marL="4266275" algn="l" defTabSz="1218936" rtl="0" eaLnBrk="1" latinLnBrk="0" hangingPunct="1">
      <a:defRPr sz="1600" kern="1200">
        <a:solidFill>
          <a:schemeClr val="tx1"/>
        </a:solidFill>
        <a:latin typeface="+mn-lt"/>
        <a:ea typeface="+mn-ea"/>
        <a:cs typeface="+mn-cs"/>
      </a:defRPr>
    </a:lvl8pPr>
    <a:lvl9pPr marL="4875744" algn="l" defTabSz="1218936"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NVIDIA TAO Provides all of the model optimizations.</a:t>
            </a:r>
          </a:p>
        </p:txBody>
      </p:sp>
      <p:sp>
        <p:nvSpPr>
          <p:cNvPr id="4" name="Slide Number Placeholder 3"/>
          <p:cNvSpPr>
            <a:spLocks noGrp="1"/>
          </p:cNvSpPr>
          <p:nvPr>
            <p:ph type="sldNum" sz="quarter" idx="5"/>
          </p:nvPr>
        </p:nvSpPr>
        <p:spPr/>
        <p:txBody>
          <a:bodyPr/>
          <a:lstStyle/>
          <a:p>
            <a:fld id="{BFF8CB49-A7FB-5E4A-B599-DE2118135120}" type="slidenum">
              <a:rPr lang="en-US" smtClean="0"/>
              <a:t>3</a:t>
            </a:fld>
            <a:endParaRPr lang="en-US"/>
          </a:p>
        </p:txBody>
      </p:sp>
    </p:spTree>
    <p:extLst>
      <p:ext uri="{BB962C8B-B14F-4D97-AF65-F5344CB8AC3E}">
        <p14:creationId xmlns:p14="http://schemas.microsoft.com/office/powerpoint/2010/main" val="763163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6AE8-D8D5-9BC7-8243-01DDF73BEE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5CFEA-EEB2-E6B3-445E-B0112D742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ABCAF-F476-6D8A-A943-19E1F85A0CBE}"/>
              </a:ext>
            </a:extLst>
          </p:cNvPr>
          <p:cNvSpPr>
            <a:spLocks noGrp="1"/>
          </p:cNvSpPr>
          <p:nvPr>
            <p:ph type="body" idx="1"/>
          </p:nvPr>
        </p:nvSpPr>
        <p:spPr/>
        <p:txBody>
          <a:bodyPr/>
          <a:lstStyle/>
          <a:p>
            <a:r>
              <a:rPr lang="en-US" dirty="0"/>
              <a:t>Note, NVIDIA TAO Provides all of the model optimizations.</a:t>
            </a:r>
          </a:p>
        </p:txBody>
      </p:sp>
      <p:sp>
        <p:nvSpPr>
          <p:cNvPr id="4" name="Slide Number Placeholder 3">
            <a:extLst>
              <a:ext uri="{FF2B5EF4-FFF2-40B4-BE49-F238E27FC236}">
                <a16:creationId xmlns:a16="http://schemas.microsoft.com/office/drawing/2014/main" id="{5224FBE7-06E4-D636-AC4D-AF239368F27B}"/>
              </a:ext>
            </a:extLst>
          </p:cNvPr>
          <p:cNvSpPr>
            <a:spLocks noGrp="1"/>
          </p:cNvSpPr>
          <p:nvPr>
            <p:ph type="sldNum" sz="quarter" idx="5"/>
          </p:nvPr>
        </p:nvSpPr>
        <p:spPr/>
        <p:txBody>
          <a:bodyPr/>
          <a:lstStyle/>
          <a:p>
            <a:fld id="{BFF8CB49-A7FB-5E4A-B599-DE2118135120}" type="slidenum">
              <a:rPr lang="en-US" smtClean="0"/>
              <a:t>4</a:t>
            </a:fld>
            <a:endParaRPr lang="en-US"/>
          </a:p>
        </p:txBody>
      </p:sp>
    </p:spTree>
    <p:extLst>
      <p:ext uri="{BB962C8B-B14F-4D97-AF65-F5344CB8AC3E}">
        <p14:creationId xmlns:p14="http://schemas.microsoft.com/office/powerpoint/2010/main" val="236345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820B9-D5B9-4B9A-B3AE-285FB358A4CF}" type="slidenum">
              <a:rPr lang="en-US" altLang="en-US" smtClean="0"/>
              <a:pPr/>
              <a:t>6</a:t>
            </a:fld>
            <a:endParaRPr lang="en-US" altLang="en-US"/>
          </a:p>
        </p:txBody>
      </p:sp>
    </p:spTree>
    <p:extLst>
      <p:ext uri="{BB962C8B-B14F-4D97-AF65-F5344CB8AC3E}">
        <p14:creationId xmlns:p14="http://schemas.microsoft.com/office/powerpoint/2010/main" val="2873265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7820B9-D5B9-4B9A-B3AE-285FB358A4CF}" type="slidenum">
              <a:rPr lang="en-US" altLang="en-US" smtClean="0"/>
              <a:pPr/>
              <a:t>8</a:t>
            </a:fld>
            <a:endParaRPr lang="en-US" altLang="en-US"/>
          </a:p>
        </p:txBody>
      </p:sp>
    </p:spTree>
    <p:extLst>
      <p:ext uri="{BB962C8B-B14F-4D97-AF65-F5344CB8AC3E}">
        <p14:creationId xmlns:p14="http://schemas.microsoft.com/office/powerpoint/2010/main" val="4282238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TFLM library functions this model uses. Allocate appropriate tensor memory.</a:t>
            </a:r>
          </a:p>
          <a:p>
            <a:r>
              <a:rPr lang="en-US" dirty="0"/>
              <a:t>There are predefined functions</a:t>
            </a:r>
          </a:p>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9</a:t>
            </a:fld>
            <a:endParaRPr lang="en-US"/>
          </a:p>
        </p:txBody>
      </p:sp>
    </p:spTree>
    <p:extLst>
      <p:ext uri="{BB962C8B-B14F-4D97-AF65-F5344CB8AC3E}">
        <p14:creationId xmlns:p14="http://schemas.microsoft.com/office/powerpoint/2010/main" val="958010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10</a:t>
            </a:fld>
            <a:endParaRPr lang="en-US"/>
          </a:p>
        </p:txBody>
      </p:sp>
    </p:spTree>
    <p:extLst>
      <p:ext uri="{BB962C8B-B14F-4D97-AF65-F5344CB8AC3E}">
        <p14:creationId xmlns:p14="http://schemas.microsoft.com/office/powerpoint/2010/main" val="1476012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11</a:t>
            </a:fld>
            <a:endParaRPr lang="en-US"/>
          </a:p>
        </p:txBody>
      </p:sp>
    </p:spTree>
    <p:extLst>
      <p:ext uri="{BB962C8B-B14F-4D97-AF65-F5344CB8AC3E}">
        <p14:creationId xmlns:p14="http://schemas.microsoft.com/office/powerpoint/2010/main" val="31437532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889125" y="146050"/>
            <a:ext cx="3686175" cy="2074863"/>
          </a:xfrm>
        </p:spPr>
      </p:sp>
      <p:sp>
        <p:nvSpPr>
          <p:cNvPr id="3" name="Notes Placeholder 2"/>
          <p:cNvSpPr>
            <a:spLocks noGrp="1"/>
          </p:cNvSpPr>
          <p:nvPr>
            <p:ph type="body" idx="1"/>
          </p:nvPr>
        </p:nvSpPr>
        <p:spPr>
          <a:xfrm>
            <a:off x="181705" y="2324596"/>
            <a:ext cx="6739064" cy="7063879"/>
          </a:xfrm>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12</a:t>
            </a:fld>
            <a:endParaRPr lang="en-US"/>
          </a:p>
        </p:txBody>
      </p:sp>
    </p:spTree>
    <p:extLst>
      <p:ext uri="{BB962C8B-B14F-4D97-AF65-F5344CB8AC3E}">
        <p14:creationId xmlns:p14="http://schemas.microsoft.com/office/powerpoint/2010/main" val="2645913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15</a:t>
            </a:fld>
            <a:endParaRPr lang="en-US"/>
          </a:p>
        </p:txBody>
      </p:sp>
    </p:spTree>
    <p:extLst>
      <p:ext uri="{BB962C8B-B14F-4D97-AF65-F5344CB8AC3E}">
        <p14:creationId xmlns:p14="http://schemas.microsoft.com/office/powerpoint/2010/main" val="3436052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FF8CB49-A7FB-5E4A-B599-DE2118135120}" type="slidenum">
              <a:rPr lang="en-US" smtClean="0"/>
              <a:t>22</a:t>
            </a:fld>
            <a:endParaRPr lang="en-US"/>
          </a:p>
        </p:txBody>
      </p:sp>
    </p:spTree>
    <p:extLst>
      <p:ext uri="{BB962C8B-B14F-4D97-AF65-F5344CB8AC3E}">
        <p14:creationId xmlns:p14="http://schemas.microsoft.com/office/powerpoint/2010/main" val="32367457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880165" y="2474260"/>
            <a:ext cx="6437455" cy="996522"/>
          </a:xfrm>
          <a:ln>
            <a:noFill/>
          </a:ln>
        </p:spPr>
        <p:txBody>
          <a:bodyPr anchor="b" anchorCtr="0"/>
          <a:lstStyle>
            <a:lvl1pPr algn="r">
              <a:defRPr sz="3800">
                <a:solidFill>
                  <a:srgbClr val="0E3689"/>
                </a:solidFill>
              </a:defRPr>
            </a:lvl1pPr>
          </a:lstStyle>
          <a:p>
            <a:r>
              <a:rPr lang="en-US" dirty="0"/>
              <a:t>Presentation Title</a:t>
            </a:r>
          </a:p>
        </p:txBody>
      </p:sp>
      <p:sp>
        <p:nvSpPr>
          <p:cNvPr id="4" name="Rectangle 3">
            <a:extLst>
              <a:ext uri="{FF2B5EF4-FFF2-40B4-BE49-F238E27FC236}">
                <a16:creationId xmlns:a16="http://schemas.microsoft.com/office/drawing/2014/main" id="{FF1D45AC-B80D-4805-BA4C-8776489E8022}"/>
              </a:ext>
            </a:extLst>
          </p:cNvPr>
          <p:cNvSpPr/>
          <p:nvPr userDrawn="1"/>
        </p:nvSpPr>
        <p:spPr>
          <a:xfrm>
            <a:off x="9411530" y="6331942"/>
            <a:ext cx="2777297" cy="52605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121893" tIns="60947" rIns="121893" bIns="60947" rtlCol="0" anchor="ctr"/>
          <a:lstStyle/>
          <a:p>
            <a:pPr algn="ctr"/>
            <a:endParaRPr lang="en-US" dirty="0"/>
          </a:p>
        </p:txBody>
      </p:sp>
      <p:cxnSp>
        <p:nvCxnSpPr>
          <p:cNvPr id="8" name="Straight Connector 7">
            <a:extLst>
              <a:ext uri="{FF2B5EF4-FFF2-40B4-BE49-F238E27FC236}">
                <a16:creationId xmlns:a16="http://schemas.microsoft.com/office/drawing/2014/main" id="{1ACBDA27-1F54-4C50-8D76-28815B58BDC3}"/>
              </a:ext>
            </a:extLst>
          </p:cNvPr>
          <p:cNvCxnSpPr/>
          <p:nvPr userDrawn="1"/>
        </p:nvCxnSpPr>
        <p:spPr>
          <a:xfrm>
            <a:off x="7552849" y="2666723"/>
            <a:ext cx="0" cy="835152"/>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CEB7A8E4-4917-4A3E-8E2F-D070BB4D10DE}"/>
              </a:ext>
            </a:extLst>
          </p:cNvPr>
          <p:cNvSpPr txBox="1"/>
          <p:nvPr userDrawn="1"/>
        </p:nvSpPr>
        <p:spPr>
          <a:xfrm>
            <a:off x="4067363" y="3799832"/>
            <a:ext cx="7411397" cy="387772"/>
          </a:xfrm>
          <a:prstGeom prst="rect">
            <a:avLst/>
          </a:prstGeom>
          <a:noFill/>
        </p:spPr>
        <p:txBody>
          <a:bodyPr wrap="none" lIns="121893" tIns="60947" rIns="121893" bIns="60947" rtlCol="0">
            <a:spAutoFit/>
          </a:bodyPr>
          <a:lstStyle/>
          <a:p>
            <a:pPr algn="r"/>
            <a:r>
              <a:rPr lang="en-US" sz="1720" dirty="0">
                <a:solidFill>
                  <a:srgbClr val="1D9CE4"/>
                </a:solidFill>
                <a:latin typeface="Calibri Light" panose="020F0302020204030204" pitchFamily="34" charset="0"/>
                <a:cs typeface="Calibri Light" panose="020F0302020204030204" pitchFamily="34" charset="0"/>
              </a:rPr>
              <a:t>A Leading Provider of Smart, Connected and Secure Embedded Control Solutions </a:t>
            </a:r>
          </a:p>
        </p:txBody>
      </p:sp>
      <p:cxnSp>
        <p:nvCxnSpPr>
          <p:cNvPr id="23" name="Straight Connector 22">
            <a:extLst>
              <a:ext uri="{FF2B5EF4-FFF2-40B4-BE49-F238E27FC236}">
                <a16:creationId xmlns:a16="http://schemas.microsoft.com/office/drawing/2014/main" id="{1ACBDA27-1F54-4C50-8D76-28815B58BDC3}"/>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28" name="Text Placeholder 27">
            <a:extLst>
              <a:ext uri="{FF2B5EF4-FFF2-40B4-BE49-F238E27FC236}">
                <a16:creationId xmlns:a16="http://schemas.microsoft.com/office/drawing/2014/main" id="{599BB76E-0E67-7C41-9AEC-8C75006E4449}"/>
              </a:ext>
            </a:extLst>
          </p:cNvPr>
          <p:cNvSpPr>
            <a:spLocks noGrp="1"/>
          </p:cNvSpPr>
          <p:nvPr>
            <p:ph type="body" sz="quarter" idx="12" hasCustomPrompt="1"/>
          </p:nvPr>
        </p:nvSpPr>
        <p:spPr>
          <a:xfrm>
            <a:off x="4935143" y="6123667"/>
            <a:ext cx="6419850" cy="252110"/>
          </a:xfrm>
          <a:prstGeom prst="rect">
            <a:avLst/>
          </a:prstGeom>
        </p:spPr>
        <p:txBody>
          <a:bodyPr lIns="182880" tIns="0" rIns="0" anchor="t" anchorCtr="0">
            <a:noAutofit/>
          </a:bodyPr>
          <a:lstStyle>
            <a:lvl1pPr marL="0" indent="0" algn="r">
              <a:buNone/>
              <a:defRPr sz="2200" b="0">
                <a:solidFill>
                  <a:srgbClr val="1D9CE4"/>
                </a:solidFill>
              </a:defRPr>
            </a:lvl1pPr>
          </a:lstStyle>
          <a:p>
            <a:pPr lvl="0"/>
            <a:r>
              <a:rPr lang="en-US" dirty="0"/>
              <a:t>Date</a:t>
            </a:r>
          </a:p>
        </p:txBody>
      </p:sp>
      <p:sp>
        <p:nvSpPr>
          <p:cNvPr id="35" name="Text Placeholder 34">
            <a:extLst>
              <a:ext uri="{FF2B5EF4-FFF2-40B4-BE49-F238E27FC236}">
                <a16:creationId xmlns:a16="http://schemas.microsoft.com/office/drawing/2014/main" id="{B2D92EAD-7B52-0549-B90C-8F01DFF1E684}"/>
              </a:ext>
            </a:extLst>
          </p:cNvPr>
          <p:cNvSpPr>
            <a:spLocks noGrp="1"/>
          </p:cNvSpPr>
          <p:nvPr>
            <p:ph type="body" sz="quarter" idx="13" hasCustomPrompt="1"/>
          </p:nvPr>
        </p:nvSpPr>
        <p:spPr>
          <a:xfrm>
            <a:off x="4935142" y="5763412"/>
            <a:ext cx="6420245" cy="314325"/>
          </a:xfrm>
          <a:prstGeom prst="rect">
            <a:avLst/>
          </a:prstGeom>
        </p:spPr>
        <p:txBody>
          <a:bodyPr rIns="0" bIns="0" anchor="b" anchorCtr="0">
            <a:noAutofit/>
          </a:bodyPr>
          <a:lstStyle>
            <a:lvl1pPr marL="0" indent="0" algn="r">
              <a:lnSpc>
                <a:spcPts val="2340"/>
              </a:lnSpc>
              <a:buNone/>
              <a:defRPr sz="2200">
                <a:solidFill>
                  <a:schemeClr val="accent1"/>
                </a:solidFill>
              </a:defRPr>
            </a:lvl1pPr>
          </a:lstStyle>
          <a:p>
            <a:pPr lvl="0"/>
            <a:r>
              <a:rPr lang="en-US" dirty="0"/>
              <a:t>Presented by</a:t>
            </a:r>
          </a:p>
        </p:txBody>
      </p:sp>
      <p:pic>
        <p:nvPicPr>
          <p:cNvPr id="10" name="Picture 9" descr="SCS-015.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6255" y="5139766"/>
            <a:ext cx="1630420" cy="1630420"/>
          </a:xfrm>
          <a:prstGeom prst="rect">
            <a:avLst/>
          </a:prstGeom>
        </p:spPr>
      </p:pic>
      <p:pic>
        <p:nvPicPr>
          <p:cNvPr id="12" name="Picture 11" descr="MCHP-logo.jp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61621" y="2635935"/>
            <a:ext cx="3584711" cy="902767"/>
          </a:xfrm>
          <a:prstGeom prst="rect">
            <a:avLst/>
          </a:prstGeom>
        </p:spPr>
      </p:pic>
      <p:sp>
        <p:nvSpPr>
          <p:cNvPr id="3" name="Footer Placeholder 4">
            <a:extLst>
              <a:ext uri="{FF2B5EF4-FFF2-40B4-BE49-F238E27FC236}">
                <a16:creationId xmlns:a16="http://schemas.microsoft.com/office/drawing/2014/main" id="{1B0E721A-1299-524B-E78C-0CE271183F5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b="1">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3009375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0606" y="2034289"/>
            <a:ext cx="7909168" cy="1591386"/>
          </a:xfrm>
        </p:spPr>
        <p:txBody>
          <a:bodyPr anchor="b" anchorCtr="0"/>
          <a:lstStyle>
            <a:lvl1pPr algn="r">
              <a:defRPr sz="5300" b="1" cap="none" baseline="0">
                <a:solidFill>
                  <a:srgbClr val="0E3689"/>
                </a:solidFill>
              </a:defRPr>
            </a:lvl1pPr>
          </a:lstStyle>
          <a:p>
            <a:r>
              <a:rPr lang="en-US" dirty="0"/>
              <a:t>Section Title</a:t>
            </a:r>
          </a:p>
        </p:txBody>
      </p:sp>
      <p:sp>
        <p:nvSpPr>
          <p:cNvPr id="3" name="Text Placeholder 2"/>
          <p:cNvSpPr>
            <a:spLocks noGrp="1"/>
          </p:cNvSpPr>
          <p:nvPr>
            <p:ph type="body" idx="1" hasCustomPrompt="1"/>
          </p:nvPr>
        </p:nvSpPr>
        <p:spPr>
          <a:xfrm>
            <a:off x="3410606" y="3824300"/>
            <a:ext cx="7909168" cy="1018627"/>
          </a:xfrm>
          <a:prstGeom prst="rect">
            <a:avLst/>
          </a:prstGeom>
        </p:spPr>
        <p:txBody>
          <a:bodyPr anchor="t" anchorCtr="0">
            <a:noAutofit/>
          </a:bodyPr>
          <a:lstStyle>
            <a:lvl1pPr marL="0" indent="0" algn="r">
              <a:buNone/>
              <a:defRPr sz="2700" b="0">
                <a:solidFill>
                  <a:srgbClr val="1D9CE4"/>
                </a:solidFill>
              </a:defRPr>
            </a:lvl1pPr>
            <a:lvl2pPr marL="609443" indent="0">
              <a:buNone/>
              <a:defRPr sz="2400">
                <a:solidFill>
                  <a:schemeClr val="tx1">
                    <a:tint val="75000"/>
                  </a:schemeClr>
                </a:solidFill>
              </a:defRPr>
            </a:lvl2pPr>
            <a:lvl3pPr marL="1218885" indent="0">
              <a:buNone/>
              <a:defRPr sz="2100">
                <a:solidFill>
                  <a:schemeClr val="tx1">
                    <a:tint val="75000"/>
                  </a:schemeClr>
                </a:solidFill>
              </a:defRPr>
            </a:lvl3pPr>
            <a:lvl4pPr marL="1828328" indent="0">
              <a:buNone/>
              <a:defRPr sz="1900">
                <a:solidFill>
                  <a:schemeClr val="tx1">
                    <a:tint val="75000"/>
                  </a:schemeClr>
                </a:solidFill>
              </a:defRPr>
            </a:lvl4pPr>
            <a:lvl5pPr marL="2437771" indent="0">
              <a:buNone/>
              <a:defRPr sz="1900">
                <a:solidFill>
                  <a:schemeClr val="tx1">
                    <a:tint val="75000"/>
                  </a:schemeClr>
                </a:solidFill>
              </a:defRPr>
            </a:lvl5pPr>
            <a:lvl6pPr marL="3047213" indent="0">
              <a:buNone/>
              <a:defRPr sz="1900">
                <a:solidFill>
                  <a:schemeClr val="tx1">
                    <a:tint val="75000"/>
                  </a:schemeClr>
                </a:solidFill>
              </a:defRPr>
            </a:lvl6pPr>
            <a:lvl7pPr marL="3656656" indent="0">
              <a:buNone/>
              <a:defRPr sz="1900">
                <a:solidFill>
                  <a:schemeClr val="tx1">
                    <a:tint val="75000"/>
                  </a:schemeClr>
                </a:solidFill>
              </a:defRPr>
            </a:lvl7pPr>
            <a:lvl8pPr marL="4266097" indent="0">
              <a:buNone/>
              <a:defRPr sz="1900">
                <a:solidFill>
                  <a:schemeClr val="tx1">
                    <a:tint val="75000"/>
                  </a:schemeClr>
                </a:solidFill>
              </a:defRPr>
            </a:lvl8pPr>
            <a:lvl9pPr marL="4875541" indent="0">
              <a:buNone/>
              <a:defRPr sz="1900">
                <a:solidFill>
                  <a:schemeClr val="tx1">
                    <a:tint val="75000"/>
                  </a:schemeClr>
                </a:solidFill>
              </a:defRPr>
            </a:lvl9pPr>
          </a:lstStyle>
          <a:p>
            <a:pPr lvl="0"/>
            <a:r>
              <a:rPr lang="en-US" dirty="0"/>
              <a:t>Section Subtitle</a:t>
            </a:r>
          </a:p>
        </p:txBody>
      </p:sp>
      <p:cxnSp>
        <p:nvCxnSpPr>
          <p:cNvPr id="5" name="Straight Connector 4">
            <a:extLst>
              <a:ext uri="{FF2B5EF4-FFF2-40B4-BE49-F238E27FC236}">
                <a16:creationId xmlns:a16="http://schemas.microsoft.com/office/drawing/2014/main" id="{21D51101-8690-2A4A-89F5-D13814AF99A1}"/>
              </a:ext>
            </a:extLst>
          </p:cNvPr>
          <p:cNvCxnSpPr/>
          <p:nvPr userDrawn="1"/>
        </p:nvCxnSpPr>
        <p:spPr>
          <a:xfrm flipH="1">
            <a:off x="3410606" y="3724987"/>
            <a:ext cx="7909168" cy="0"/>
          </a:xfrm>
          <a:prstGeom prst="line">
            <a:avLst/>
          </a:prstGeom>
          <a:ln w="12700" cmpd="sng">
            <a:solidFill>
              <a:schemeClr val="bg1">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4" name="Footer Placeholder 4">
            <a:extLst>
              <a:ext uri="{FF2B5EF4-FFF2-40B4-BE49-F238E27FC236}">
                <a16:creationId xmlns:a16="http://schemas.microsoft.com/office/drawing/2014/main" id="{EFC9451B-4CB0-C1C2-1B04-1E33A8BEFBF9}"/>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b="1">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2803882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Placeholder 1">
            <a:extLst>
              <a:ext uri="{FF2B5EF4-FFF2-40B4-BE49-F238E27FC236}">
                <a16:creationId xmlns:a16="http://schemas.microsoft.com/office/drawing/2014/main" id="{CAEC6540-64C7-9747-877E-6D8504F5DE51}"/>
              </a:ext>
            </a:extLst>
          </p:cNvPr>
          <p:cNvSpPr>
            <a:spLocks noGrp="1"/>
          </p:cNvSpPr>
          <p:nvPr>
            <p:ph type="title"/>
          </p:nvPr>
        </p:nvSpPr>
        <p:spPr>
          <a:xfrm>
            <a:off x="355509" y="96296"/>
            <a:ext cx="11400661" cy="777240"/>
          </a:xfrm>
          <a:prstGeom prst="rect">
            <a:avLst/>
          </a:prstGeom>
        </p:spPr>
        <p:txBody>
          <a:bodyPr vert="horz" lIns="121888" tIns="60944" rIns="121888" bIns="60944" rtlCol="0" anchor="t" anchorCtr="0">
            <a:noAutofit/>
          </a:bodyPr>
          <a:lstStyle>
            <a:lvl1pPr>
              <a:defRPr sz="4400"/>
            </a:lvl1pPr>
          </a:lstStyle>
          <a:p>
            <a:r>
              <a:rPr lang="en-US"/>
              <a:t>Click to edit Master title style</a:t>
            </a:r>
            <a:endParaRPr lang="en-US" dirty="0"/>
          </a:p>
        </p:txBody>
      </p:sp>
      <p:sp>
        <p:nvSpPr>
          <p:cNvPr id="13" name="Content Placeholder 12">
            <a:extLst>
              <a:ext uri="{FF2B5EF4-FFF2-40B4-BE49-F238E27FC236}">
                <a16:creationId xmlns:a16="http://schemas.microsoft.com/office/drawing/2014/main" id="{986DAD2F-D448-354C-9ACF-03ED78E9AF94}"/>
              </a:ext>
            </a:extLst>
          </p:cNvPr>
          <p:cNvSpPr>
            <a:spLocks noGrp="1"/>
          </p:cNvSpPr>
          <p:nvPr>
            <p:ph sz="quarter" idx="13"/>
          </p:nvPr>
        </p:nvSpPr>
        <p:spPr>
          <a:xfrm>
            <a:off x="354778" y="923073"/>
            <a:ext cx="11400660" cy="5385963"/>
          </a:xfrm>
          <a:prstGeom prst="rect">
            <a:avLst/>
          </a:prstGeom>
        </p:spPr>
        <p:txBody>
          <a:bodyPr/>
          <a:lstStyle>
            <a:lvl1pPr marL="274201" indent="-274201">
              <a:defRPr sz="3200"/>
            </a:lvl1pPr>
            <a:lvl2pPr marL="576072" indent="-274320">
              <a:defRPr sz="2800"/>
            </a:lvl2pPr>
            <a:lvl3pPr marL="868680" indent="-274320">
              <a:defRPr sz="2400"/>
            </a:lvl3pPr>
            <a:lvl4pPr marL="1143000" indent="-274320">
              <a:defRPr sz="2000"/>
            </a:lvl4pPr>
            <a:lvl5pPr marL="1435608" indent="-274320">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48344651-9BC3-804A-ABEF-ABD80FF3CEB8}"/>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
        <p:nvSpPr>
          <p:cNvPr id="6" name="Slide Number Placeholder 8">
            <a:extLst>
              <a:ext uri="{FF2B5EF4-FFF2-40B4-BE49-F238E27FC236}">
                <a16:creationId xmlns:a16="http://schemas.microsoft.com/office/drawing/2014/main" id="{04FD760F-7C5E-4E44-B69C-EB85837D793F}"/>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F6C4036F-02D0-6547-A814-7D5AACFEC9E8}"/>
              </a:ext>
            </a:extLst>
          </p:cNvPr>
          <p:cNvGrpSpPr/>
          <p:nvPr userDrawn="1"/>
        </p:nvGrpSpPr>
        <p:grpSpPr>
          <a:xfrm>
            <a:off x="3984798" y="6596323"/>
            <a:ext cx="3594287" cy="261677"/>
            <a:chOff x="3984798" y="6596323"/>
            <a:chExt cx="3594287" cy="261677"/>
          </a:xfrm>
        </p:grpSpPr>
        <p:sp>
          <p:nvSpPr>
            <p:cNvPr id="10" name="TextBox 9">
              <a:extLst>
                <a:ext uri="{FF2B5EF4-FFF2-40B4-BE49-F238E27FC236}">
                  <a16:creationId xmlns:a16="http://schemas.microsoft.com/office/drawing/2014/main" id="{9932804D-F1B0-0D45-8469-4C00B2E72DCD}"/>
                </a:ext>
              </a:extLst>
            </p:cNvPr>
            <p:cNvSpPr txBox="1"/>
            <p:nvPr userDrawn="1"/>
          </p:nvSpPr>
          <p:spPr>
            <a:xfrm>
              <a:off x="3984798" y="6596323"/>
              <a:ext cx="3594287" cy="246221"/>
            </a:xfrm>
            <a:prstGeom prst="rect">
              <a:avLst/>
            </a:prstGeom>
            <a:noFill/>
          </p:spPr>
          <p:txBody>
            <a:bodyPr wrap="square" rtlCol="0">
              <a:spAutoFit/>
            </a:bodyPr>
            <a:lstStyle/>
            <a:p>
              <a:pPr algn="r"/>
              <a:fld id="{1CA5AD87-2C2E-CE40-A88B-1ABF9938A991}"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1" name="Rectangle 10">
              <a:extLst>
                <a:ext uri="{FF2B5EF4-FFF2-40B4-BE49-F238E27FC236}">
                  <a16:creationId xmlns:a16="http://schemas.microsoft.com/office/drawing/2014/main" id="{91A83DFC-2408-9140-996A-1BFC995DB1BA}"/>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TextBox 11">
              <a:extLst>
                <a:ext uri="{FF2B5EF4-FFF2-40B4-BE49-F238E27FC236}">
                  <a16:creationId xmlns:a16="http://schemas.microsoft.com/office/drawing/2014/main" id="{01B3A264-B363-DC44-BE09-4733DFA5AC2F}"/>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3068303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B9BB9-8088-1B4E-AA38-17BC94EF144E}"/>
              </a:ext>
            </a:extLst>
          </p:cNvPr>
          <p:cNvSpPr>
            <a:spLocks noGrp="1"/>
          </p:cNvSpPr>
          <p:nvPr>
            <p:ph type="title"/>
          </p:nvPr>
        </p:nvSpPr>
        <p:spPr>
          <a:xfrm>
            <a:off x="355509" y="96295"/>
            <a:ext cx="11400661" cy="777240"/>
          </a:xfrm>
        </p:spPr>
        <p:txBody>
          <a:body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B5F3DB77-FEA1-E44C-9C5F-88B2D4B5D283}"/>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403852"/>
            <a:ext cx="11400660" cy="490518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8">
            <a:extLst>
              <a:ext uri="{FF2B5EF4-FFF2-40B4-BE49-F238E27FC236}">
                <a16:creationId xmlns:a16="http://schemas.microsoft.com/office/drawing/2014/main" id="{E1704FFC-4F15-324D-96E6-976EE1494825}"/>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BF42D503-9A96-D64F-9F2A-686838B59E92}"/>
              </a:ext>
            </a:extLst>
          </p:cNvPr>
          <p:cNvGrpSpPr/>
          <p:nvPr userDrawn="1"/>
        </p:nvGrpSpPr>
        <p:grpSpPr>
          <a:xfrm>
            <a:off x="3984798" y="6596323"/>
            <a:ext cx="3594287" cy="261677"/>
            <a:chOff x="3984798" y="6596323"/>
            <a:chExt cx="3594287" cy="261677"/>
          </a:xfrm>
        </p:grpSpPr>
        <p:sp>
          <p:nvSpPr>
            <p:cNvPr id="11" name="TextBox 10">
              <a:extLst>
                <a:ext uri="{FF2B5EF4-FFF2-40B4-BE49-F238E27FC236}">
                  <a16:creationId xmlns:a16="http://schemas.microsoft.com/office/drawing/2014/main" id="{E79DA906-E77A-5240-98D3-F3FA40331838}"/>
                </a:ext>
              </a:extLst>
            </p:cNvPr>
            <p:cNvSpPr txBox="1"/>
            <p:nvPr userDrawn="1"/>
          </p:nvSpPr>
          <p:spPr>
            <a:xfrm>
              <a:off x="3984798" y="6596323"/>
              <a:ext cx="3594287" cy="246221"/>
            </a:xfrm>
            <a:prstGeom prst="rect">
              <a:avLst/>
            </a:prstGeom>
            <a:noFill/>
          </p:spPr>
          <p:txBody>
            <a:bodyPr wrap="square" rtlCol="0">
              <a:spAutoFit/>
            </a:bodyPr>
            <a:lstStyle/>
            <a:p>
              <a:pPr algn="r"/>
              <a:fld id="{6B651317-B18C-E948-B990-13010FE9F46D}"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2" name="Rectangle 11">
              <a:extLst>
                <a:ext uri="{FF2B5EF4-FFF2-40B4-BE49-F238E27FC236}">
                  <a16:creationId xmlns:a16="http://schemas.microsoft.com/office/drawing/2014/main" id="{18C4F890-E5A4-0844-9DAE-418C6FA03CF4}"/>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TextBox 12">
              <a:extLst>
                <a:ext uri="{FF2B5EF4-FFF2-40B4-BE49-F238E27FC236}">
                  <a16:creationId xmlns:a16="http://schemas.microsoft.com/office/drawing/2014/main" id="{8747B63C-8A0B-7B43-8B1E-3F2EE21776C4}"/>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
        <p:nvSpPr>
          <p:cNvPr id="3" name="Footer Placeholder 4">
            <a:extLst>
              <a:ext uri="{FF2B5EF4-FFF2-40B4-BE49-F238E27FC236}">
                <a16:creationId xmlns:a16="http://schemas.microsoft.com/office/drawing/2014/main" id="{76B2F650-3586-5748-DD8D-6835DB3810C5}"/>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3440774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Line Title and Content">
    <p:spTree>
      <p:nvGrpSpPr>
        <p:cNvPr id="1" name=""/>
        <p:cNvGrpSpPr/>
        <p:nvPr/>
      </p:nvGrpSpPr>
      <p:grpSpPr>
        <a:xfrm>
          <a:off x="0" y="0"/>
          <a:ext cx="0" cy="0"/>
          <a:chOff x="0" y="0"/>
          <a:chExt cx="0" cy="0"/>
        </a:xfrm>
      </p:grpSpPr>
      <p:sp>
        <p:nvSpPr>
          <p:cNvPr id="6" name="Content Placeholder 12">
            <a:extLst>
              <a:ext uri="{FF2B5EF4-FFF2-40B4-BE49-F238E27FC236}">
                <a16:creationId xmlns:a16="http://schemas.microsoft.com/office/drawing/2014/main" id="{955162B4-304F-5841-8C1A-37D23DCFC924}"/>
              </a:ext>
            </a:extLst>
          </p:cNvPr>
          <p:cNvSpPr>
            <a:spLocks noGrp="1"/>
          </p:cNvSpPr>
          <p:nvPr>
            <p:ph sz="quarter" idx="15"/>
          </p:nvPr>
        </p:nvSpPr>
        <p:spPr>
          <a:xfrm>
            <a:off x="355509" y="1626375"/>
            <a:ext cx="11400660" cy="4664076"/>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a:extLst>
              <a:ext uri="{FF2B5EF4-FFF2-40B4-BE49-F238E27FC236}">
                <a16:creationId xmlns:a16="http://schemas.microsoft.com/office/drawing/2014/main" id="{098AAA9D-2041-3B4F-8508-758963B7970D}"/>
              </a:ext>
            </a:extLst>
          </p:cNvPr>
          <p:cNvSpPr>
            <a:spLocks noGrp="1"/>
          </p:cNvSpPr>
          <p:nvPr>
            <p:ph type="title"/>
          </p:nvPr>
        </p:nvSpPr>
        <p:spPr>
          <a:xfrm>
            <a:off x="355509" y="96296"/>
            <a:ext cx="11400661" cy="1489280"/>
          </a:xfrm>
          <a:prstGeom prst="rect">
            <a:avLst/>
          </a:prstGeom>
        </p:spPr>
        <p:txBody>
          <a:bodyPr vert="horz" lIns="121888" tIns="60944" rIns="121888" bIns="60944" rtlCol="0" anchor="t" anchorCtr="0">
            <a:noAutofit/>
          </a:bodyPr>
          <a:lstStyle/>
          <a:p>
            <a:r>
              <a:rPr lang="en-US"/>
              <a:t>Click to edit Master title style</a:t>
            </a:r>
            <a:endParaRPr lang="en-US" dirty="0"/>
          </a:p>
        </p:txBody>
      </p:sp>
      <p:sp>
        <p:nvSpPr>
          <p:cNvPr id="8" name="Slide Number Placeholder 8">
            <a:extLst>
              <a:ext uri="{FF2B5EF4-FFF2-40B4-BE49-F238E27FC236}">
                <a16:creationId xmlns:a16="http://schemas.microsoft.com/office/drawing/2014/main" id="{AD67FA37-0073-AF47-8F1C-C046BC1C223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9" name="Group 8">
            <a:extLst>
              <a:ext uri="{FF2B5EF4-FFF2-40B4-BE49-F238E27FC236}">
                <a16:creationId xmlns:a16="http://schemas.microsoft.com/office/drawing/2014/main" id="{FD1FA29F-D3D1-B743-BF1F-4F74E9BFBE96}"/>
              </a:ext>
            </a:extLst>
          </p:cNvPr>
          <p:cNvGrpSpPr/>
          <p:nvPr userDrawn="1"/>
        </p:nvGrpSpPr>
        <p:grpSpPr>
          <a:xfrm>
            <a:off x="3984798" y="6596323"/>
            <a:ext cx="3594287" cy="261677"/>
            <a:chOff x="3984798" y="6596323"/>
            <a:chExt cx="3594287" cy="261677"/>
          </a:xfrm>
        </p:grpSpPr>
        <p:sp>
          <p:nvSpPr>
            <p:cNvPr id="10" name="TextBox 9">
              <a:extLst>
                <a:ext uri="{FF2B5EF4-FFF2-40B4-BE49-F238E27FC236}">
                  <a16:creationId xmlns:a16="http://schemas.microsoft.com/office/drawing/2014/main" id="{C4D98CAA-53AB-CA40-BB99-AC8568C9C965}"/>
                </a:ext>
              </a:extLst>
            </p:cNvPr>
            <p:cNvSpPr txBox="1"/>
            <p:nvPr userDrawn="1"/>
          </p:nvSpPr>
          <p:spPr>
            <a:xfrm>
              <a:off x="3984798" y="6596323"/>
              <a:ext cx="3594287" cy="246221"/>
            </a:xfrm>
            <a:prstGeom prst="rect">
              <a:avLst/>
            </a:prstGeom>
            <a:noFill/>
          </p:spPr>
          <p:txBody>
            <a:bodyPr wrap="square" rtlCol="0">
              <a:spAutoFit/>
            </a:bodyPr>
            <a:lstStyle/>
            <a:p>
              <a:pPr algn="r"/>
              <a:fld id="{493471D4-F779-B244-9C40-C480DA421F1D}"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1" name="Rectangle 10">
              <a:extLst>
                <a:ext uri="{FF2B5EF4-FFF2-40B4-BE49-F238E27FC236}">
                  <a16:creationId xmlns:a16="http://schemas.microsoft.com/office/drawing/2014/main" id="{135653C1-7F81-CF47-B063-A8C4BC3DF144}"/>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TextBox 11">
              <a:extLst>
                <a:ext uri="{FF2B5EF4-FFF2-40B4-BE49-F238E27FC236}">
                  <a16:creationId xmlns:a16="http://schemas.microsoft.com/office/drawing/2014/main" id="{713EB453-955B-B940-9782-A882942161A9}"/>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
        <p:nvSpPr>
          <p:cNvPr id="2" name="Footer Placeholder 4">
            <a:extLst>
              <a:ext uri="{FF2B5EF4-FFF2-40B4-BE49-F238E27FC236}">
                <a16:creationId xmlns:a16="http://schemas.microsoft.com/office/drawing/2014/main" id="{26D9FF2A-3AD6-7E7F-B69F-F4D34C9ADA52}"/>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2829715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lstStyle/>
          <a:p>
            <a:r>
              <a:rPr lang="en-US"/>
              <a:t>Click to edit Master title style</a:t>
            </a:r>
            <a:endParaRPr lang="en-US" dirty="0"/>
          </a:p>
        </p:txBody>
      </p:sp>
      <p:sp>
        <p:nvSpPr>
          <p:cNvPr id="7" name="Content Placeholder 12">
            <a:extLst>
              <a:ext uri="{FF2B5EF4-FFF2-40B4-BE49-F238E27FC236}">
                <a16:creationId xmlns:a16="http://schemas.microsoft.com/office/drawing/2014/main" id="{2EFF8C43-59A6-4644-B04E-6AE187BD55D1}"/>
              </a:ext>
            </a:extLst>
          </p:cNvPr>
          <p:cNvSpPr>
            <a:spLocks noGrp="1"/>
          </p:cNvSpPr>
          <p:nvPr>
            <p:ph sz="quarter" idx="15"/>
          </p:nvPr>
        </p:nvSpPr>
        <p:spPr>
          <a:xfrm>
            <a:off x="355509" y="929269"/>
            <a:ext cx="5505846" cy="537467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12">
            <a:extLst>
              <a:ext uri="{FF2B5EF4-FFF2-40B4-BE49-F238E27FC236}">
                <a16:creationId xmlns:a16="http://schemas.microsoft.com/office/drawing/2014/main" id="{69F5C3FF-72D2-604B-A6AF-63E081CA68F8}"/>
              </a:ext>
            </a:extLst>
          </p:cNvPr>
          <p:cNvSpPr>
            <a:spLocks noGrp="1"/>
          </p:cNvSpPr>
          <p:nvPr>
            <p:ph sz="quarter" idx="16"/>
          </p:nvPr>
        </p:nvSpPr>
        <p:spPr>
          <a:xfrm>
            <a:off x="6250324" y="929270"/>
            <a:ext cx="5505846" cy="5374678"/>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4">
            <a:extLst>
              <a:ext uri="{FF2B5EF4-FFF2-40B4-BE49-F238E27FC236}">
                <a16:creationId xmlns:a16="http://schemas.microsoft.com/office/drawing/2014/main" id="{3872A14E-E83F-9541-B766-352B85366E62}"/>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78986A39-4957-2843-AFDE-E6160A6C0548}"/>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1" name="Group 10">
            <a:extLst>
              <a:ext uri="{FF2B5EF4-FFF2-40B4-BE49-F238E27FC236}">
                <a16:creationId xmlns:a16="http://schemas.microsoft.com/office/drawing/2014/main" id="{E82C2564-89A5-B045-B11D-EC2B6C4EF263}"/>
              </a:ext>
            </a:extLst>
          </p:cNvPr>
          <p:cNvGrpSpPr/>
          <p:nvPr userDrawn="1"/>
        </p:nvGrpSpPr>
        <p:grpSpPr>
          <a:xfrm>
            <a:off x="3984798" y="6596323"/>
            <a:ext cx="3594287" cy="261677"/>
            <a:chOff x="3984798" y="6596323"/>
            <a:chExt cx="3594287" cy="261677"/>
          </a:xfrm>
        </p:grpSpPr>
        <p:sp>
          <p:nvSpPr>
            <p:cNvPr id="12" name="TextBox 11">
              <a:extLst>
                <a:ext uri="{FF2B5EF4-FFF2-40B4-BE49-F238E27FC236}">
                  <a16:creationId xmlns:a16="http://schemas.microsoft.com/office/drawing/2014/main" id="{B46810D8-1F1D-2E44-98D2-9655BDEBA9A9}"/>
                </a:ext>
              </a:extLst>
            </p:cNvPr>
            <p:cNvSpPr txBox="1"/>
            <p:nvPr userDrawn="1"/>
          </p:nvSpPr>
          <p:spPr>
            <a:xfrm>
              <a:off x="3984798" y="6596323"/>
              <a:ext cx="3594287" cy="246221"/>
            </a:xfrm>
            <a:prstGeom prst="rect">
              <a:avLst/>
            </a:prstGeom>
            <a:noFill/>
          </p:spPr>
          <p:txBody>
            <a:bodyPr wrap="square" rtlCol="0">
              <a:spAutoFit/>
            </a:bodyPr>
            <a:lstStyle/>
            <a:p>
              <a:pPr algn="r"/>
              <a:fld id="{D5B9D91C-B319-6740-B041-91E92A828C26}"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3" name="Rectangle 12">
              <a:extLst>
                <a:ext uri="{FF2B5EF4-FFF2-40B4-BE49-F238E27FC236}">
                  <a16:creationId xmlns:a16="http://schemas.microsoft.com/office/drawing/2014/main" id="{8CD45905-001C-3245-A3FD-ABDBA73B7BBC}"/>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TextBox 13">
              <a:extLst>
                <a:ext uri="{FF2B5EF4-FFF2-40B4-BE49-F238E27FC236}">
                  <a16:creationId xmlns:a16="http://schemas.microsoft.com/office/drawing/2014/main" id="{CF045E37-2F57-AB4C-8037-7C0BF70F4E15}"/>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154026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 Subtitle">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14ABC63-0F02-3D4C-B5A8-224D9EF04437}"/>
              </a:ext>
            </a:extLst>
          </p:cNvPr>
          <p:cNvSpPr>
            <a:spLocks noGrp="1"/>
          </p:cNvSpPr>
          <p:nvPr>
            <p:ph type="title"/>
          </p:nvPr>
        </p:nvSpPr>
        <p:spPr>
          <a:xfrm>
            <a:off x="355509" y="96297"/>
            <a:ext cx="11400661" cy="777240"/>
          </a:xfrm>
        </p:spPr>
        <p:txBody>
          <a:bodyPr>
            <a:noAutofit/>
          </a:bodyPr>
          <a:lstStyle/>
          <a:p>
            <a:r>
              <a:rPr lang="en-US"/>
              <a:t>Click to edit Master title style</a:t>
            </a:r>
            <a:endParaRPr lang="en-US" dirty="0"/>
          </a:p>
        </p:txBody>
      </p:sp>
      <p:sp>
        <p:nvSpPr>
          <p:cNvPr id="6" name="Text Placeholder 9">
            <a:extLst>
              <a:ext uri="{FF2B5EF4-FFF2-40B4-BE49-F238E27FC236}">
                <a16:creationId xmlns:a16="http://schemas.microsoft.com/office/drawing/2014/main" id="{EF0C5114-81F0-6D40-9DA2-1EA66CC7C6BC}"/>
              </a:ext>
            </a:extLst>
          </p:cNvPr>
          <p:cNvSpPr>
            <a:spLocks noGrp="1"/>
          </p:cNvSpPr>
          <p:nvPr>
            <p:ph type="body" sz="quarter" idx="13" hasCustomPrompt="1"/>
          </p:nvPr>
        </p:nvSpPr>
        <p:spPr>
          <a:xfrm>
            <a:off x="368603" y="831986"/>
            <a:ext cx="11400661" cy="428625"/>
          </a:xfrm>
          <a:prstGeom prst="rect">
            <a:avLst/>
          </a:prstGeom>
        </p:spPr>
        <p:txBody>
          <a:bodyPr anchor="ctr">
            <a:noAutofit/>
          </a:bodyPr>
          <a:lstStyle>
            <a:lvl1pPr marL="0" indent="0">
              <a:buNone/>
              <a:defRPr>
                <a:solidFill>
                  <a:srgbClr val="1D9CE4"/>
                </a:solidFill>
              </a:defRPr>
            </a:lvl1pPr>
          </a:lstStyle>
          <a:p>
            <a:pPr lvl="0"/>
            <a:r>
              <a:rPr lang="en-US" b="1" kern="0" dirty="0">
                <a:solidFill>
                  <a:srgbClr val="45A8C4"/>
                </a:solidFill>
                <a:latin typeface="+mn-lt"/>
                <a:cs typeface="Calibri"/>
              </a:rPr>
              <a:t>Subtitle</a:t>
            </a:r>
            <a:endParaRPr lang="en-US" dirty="0"/>
          </a:p>
        </p:txBody>
      </p:sp>
      <p:sp>
        <p:nvSpPr>
          <p:cNvPr id="10" name="Content Placeholder 12">
            <a:extLst>
              <a:ext uri="{FF2B5EF4-FFF2-40B4-BE49-F238E27FC236}">
                <a16:creationId xmlns:a16="http://schemas.microsoft.com/office/drawing/2014/main" id="{4354C555-752C-5946-99B7-1752C8A6C9F8}"/>
              </a:ext>
            </a:extLst>
          </p:cNvPr>
          <p:cNvSpPr>
            <a:spLocks noGrp="1"/>
          </p:cNvSpPr>
          <p:nvPr>
            <p:ph sz="quarter" idx="15"/>
          </p:nvPr>
        </p:nvSpPr>
        <p:spPr>
          <a:xfrm>
            <a:off x="352454" y="1408545"/>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2">
            <a:extLst>
              <a:ext uri="{FF2B5EF4-FFF2-40B4-BE49-F238E27FC236}">
                <a16:creationId xmlns:a16="http://schemas.microsoft.com/office/drawing/2014/main" id="{B1B5C683-E8CE-5447-B10F-1FA96B9838C5}"/>
              </a:ext>
            </a:extLst>
          </p:cNvPr>
          <p:cNvSpPr>
            <a:spLocks noGrp="1"/>
          </p:cNvSpPr>
          <p:nvPr>
            <p:ph sz="quarter" idx="16"/>
          </p:nvPr>
        </p:nvSpPr>
        <p:spPr>
          <a:xfrm>
            <a:off x="6250324" y="1408546"/>
            <a:ext cx="5505846" cy="490779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B9F735E5-BB03-E141-8FE5-6E137A04C79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8" name="Slide Number Placeholder 8">
            <a:extLst>
              <a:ext uri="{FF2B5EF4-FFF2-40B4-BE49-F238E27FC236}">
                <a16:creationId xmlns:a16="http://schemas.microsoft.com/office/drawing/2014/main" id="{2D0980E6-4C36-ED4A-BBAC-FCB3FD474E42}"/>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2" name="Group 11">
            <a:extLst>
              <a:ext uri="{FF2B5EF4-FFF2-40B4-BE49-F238E27FC236}">
                <a16:creationId xmlns:a16="http://schemas.microsoft.com/office/drawing/2014/main" id="{FEE4F5BD-A8B2-8A43-8F9D-27796637426D}"/>
              </a:ext>
            </a:extLst>
          </p:cNvPr>
          <p:cNvGrpSpPr/>
          <p:nvPr userDrawn="1"/>
        </p:nvGrpSpPr>
        <p:grpSpPr>
          <a:xfrm>
            <a:off x="3984798" y="6596323"/>
            <a:ext cx="3594287" cy="261677"/>
            <a:chOff x="3984798" y="6596323"/>
            <a:chExt cx="3594287" cy="261677"/>
          </a:xfrm>
        </p:grpSpPr>
        <p:sp>
          <p:nvSpPr>
            <p:cNvPr id="13" name="TextBox 12">
              <a:extLst>
                <a:ext uri="{FF2B5EF4-FFF2-40B4-BE49-F238E27FC236}">
                  <a16:creationId xmlns:a16="http://schemas.microsoft.com/office/drawing/2014/main" id="{56AB45CE-9A16-9D42-B335-40FCBA3C7672}"/>
                </a:ext>
              </a:extLst>
            </p:cNvPr>
            <p:cNvSpPr txBox="1"/>
            <p:nvPr userDrawn="1"/>
          </p:nvSpPr>
          <p:spPr>
            <a:xfrm>
              <a:off x="3984798" y="6596323"/>
              <a:ext cx="3594287" cy="246221"/>
            </a:xfrm>
            <a:prstGeom prst="rect">
              <a:avLst/>
            </a:prstGeom>
            <a:noFill/>
          </p:spPr>
          <p:txBody>
            <a:bodyPr wrap="square" rtlCol="0">
              <a:spAutoFit/>
            </a:bodyPr>
            <a:lstStyle/>
            <a:p>
              <a:pPr algn="r"/>
              <a:fld id="{DA8F7AB5-BFE5-D543-9ED3-50EAB714655D}"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4" name="Rectangle 13">
              <a:extLst>
                <a:ext uri="{FF2B5EF4-FFF2-40B4-BE49-F238E27FC236}">
                  <a16:creationId xmlns:a16="http://schemas.microsoft.com/office/drawing/2014/main" id="{2B272549-DB7B-3E4B-A9DF-413990017250}"/>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TextBox 14">
              <a:extLst>
                <a:ext uri="{FF2B5EF4-FFF2-40B4-BE49-F238E27FC236}">
                  <a16:creationId xmlns:a16="http://schemas.microsoft.com/office/drawing/2014/main" id="{C5593CC7-18E5-1E4B-B493-BCCB1352C41B}"/>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340959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7" y="923075"/>
            <a:ext cx="5474569" cy="567713"/>
          </a:xfrm>
          <a:prstGeom prst="rect">
            <a:avLst/>
          </a:prstGeom>
        </p:spPr>
        <p:txBody>
          <a:bodyPr anchor="b">
            <a:normAutofit/>
          </a:bodyPr>
          <a:lstStyle>
            <a:lvl1pPr marL="0" indent="0">
              <a:buNone/>
              <a:defRPr sz="2800" b="1" i="0"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5" name="Text Placeholder 4"/>
          <p:cNvSpPr>
            <a:spLocks noGrp="1"/>
          </p:cNvSpPr>
          <p:nvPr>
            <p:ph type="body" sz="quarter" idx="3" hasCustomPrompt="1"/>
          </p:nvPr>
        </p:nvSpPr>
        <p:spPr>
          <a:xfrm>
            <a:off x="6385192" y="941660"/>
            <a:ext cx="5387630" cy="567714"/>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dirty="0"/>
              <a:t>Click to edit Master text styles.</a:t>
            </a:r>
          </a:p>
        </p:txBody>
      </p:sp>
      <p:sp>
        <p:nvSpPr>
          <p:cNvPr id="11" name="Title 1">
            <a:extLst>
              <a:ext uri="{FF2B5EF4-FFF2-40B4-BE49-F238E27FC236}">
                <a16:creationId xmlns:a16="http://schemas.microsoft.com/office/drawing/2014/main" id="{70898E04-A14A-8140-993E-87174E0C2C8D}"/>
              </a:ext>
            </a:extLst>
          </p:cNvPr>
          <p:cNvSpPr>
            <a:spLocks noGrp="1"/>
          </p:cNvSpPr>
          <p:nvPr>
            <p:ph type="title"/>
          </p:nvPr>
        </p:nvSpPr>
        <p:spPr>
          <a:xfrm>
            <a:off x="355509" y="96297"/>
            <a:ext cx="11400661" cy="777240"/>
          </a:xfrm>
        </p:spPr>
        <p:txBody>
          <a:bodyPr/>
          <a:lstStyle/>
          <a:p>
            <a:r>
              <a:rPr lang="en-US"/>
              <a:t>Click to edit Master title style</a:t>
            </a:r>
            <a:endParaRPr lang="en-US" dirty="0"/>
          </a:p>
        </p:txBody>
      </p:sp>
      <p:sp>
        <p:nvSpPr>
          <p:cNvPr id="8" name="Content Placeholder 12">
            <a:extLst>
              <a:ext uri="{FF2B5EF4-FFF2-40B4-BE49-F238E27FC236}">
                <a16:creationId xmlns:a16="http://schemas.microsoft.com/office/drawing/2014/main" id="{5170BFA0-6B7E-2944-A49D-35B39ABC44C4}"/>
              </a:ext>
            </a:extLst>
          </p:cNvPr>
          <p:cNvSpPr>
            <a:spLocks noGrp="1"/>
          </p:cNvSpPr>
          <p:nvPr>
            <p:ph sz="quarter" idx="15"/>
          </p:nvPr>
        </p:nvSpPr>
        <p:spPr>
          <a:xfrm>
            <a:off x="355509" y="1561175"/>
            <a:ext cx="5474567" cy="4795020"/>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12">
            <a:extLst>
              <a:ext uri="{FF2B5EF4-FFF2-40B4-BE49-F238E27FC236}">
                <a16:creationId xmlns:a16="http://schemas.microsoft.com/office/drawing/2014/main" id="{C883CD4E-1B81-AF4E-B076-F6C9C7DA1692}"/>
              </a:ext>
            </a:extLst>
          </p:cNvPr>
          <p:cNvSpPr>
            <a:spLocks noGrp="1"/>
          </p:cNvSpPr>
          <p:nvPr>
            <p:ph sz="quarter" idx="16"/>
          </p:nvPr>
        </p:nvSpPr>
        <p:spPr>
          <a:xfrm>
            <a:off x="6385193" y="1561175"/>
            <a:ext cx="5387630" cy="4795019"/>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E2902E3F-7B87-844B-A375-55F0B5134651}"/>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12" name="Slide Number Placeholder 8">
            <a:extLst>
              <a:ext uri="{FF2B5EF4-FFF2-40B4-BE49-F238E27FC236}">
                <a16:creationId xmlns:a16="http://schemas.microsoft.com/office/drawing/2014/main" id="{884F7A06-CF40-064F-B9BE-F69B2DFE502C}"/>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3" name="Group 12">
            <a:extLst>
              <a:ext uri="{FF2B5EF4-FFF2-40B4-BE49-F238E27FC236}">
                <a16:creationId xmlns:a16="http://schemas.microsoft.com/office/drawing/2014/main" id="{77ED839D-F08B-6B46-82B5-51DE2326DF5F}"/>
              </a:ext>
            </a:extLst>
          </p:cNvPr>
          <p:cNvGrpSpPr/>
          <p:nvPr userDrawn="1"/>
        </p:nvGrpSpPr>
        <p:grpSpPr>
          <a:xfrm>
            <a:off x="3984798" y="6596323"/>
            <a:ext cx="3594287" cy="261677"/>
            <a:chOff x="3984798" y="6596323"/>
            <a:chExt cx="3594287" cy="261677"/>
          </a:xfrm>
        </p:grpSpPr>
        <p:sp>
          <p:nvSpPr>
            <p:cNvPr id="14" name="TextBox 13">
              <a:extLst>
                <a:ext uri="{FF2B5EF4-FFF2-40B4-BE49-F238E27FC236}">
                  <a16:creationId xmlns:a16="http://schemas.microsoft.com/office/drawing/2014/main" id="{3FC1BBAD-8C56-A04F-899C-5B4188A5F5D3}"/>
                </a:ext>
              </a:extLst>
            </p:cNvPr>
            <p:cNvSpPr txBox="1"/>
            <p:nvPr userDrawn="1"/>
          </p:nvSpPr>
          <p:spPr>
            <a:xfrm>
              <a:off x="3984798" y="6596323"/>
              <a:ext cx="3594287" cy="246221"/>
            </a:xfrm>
            <a:prstGeom prst="rect">
              <a:avLst/>
            </a:prstGeom>
            <a:noFill/>
          </p:spPr>
          <p:txBody>
            <a:bodyPr wrap="square" rtlCol="0">
              <a:spAutoFit/>
            </a:bodyPr>
            <a:lstStyle/>
            <a:p>
              <a:pPr algn="r"/>
              <a:fld id="{A25B9A85-EE0A-E54F-AA18-41FF007C6B2F}"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5" name="Rectangle 14">
              <a:extLst>
                <a:ext uri="{FF2B5EF4-FFF2-40B4-BE49-F238E27FC236}">
                  <a16:creationId xmlns:a16="http://schemas.microsoft.com/office/drawing/2014/main" id="{B5CAC621-04E4-3B47-A37C-31D012718AE9}"/>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TextBox 15">
              <a:extLst>
                <a:ext uri="{FF2B5EF4-FFF2-40B4-BE49-F238E27FC236}">
                  <a16:creationId xmlns:a16="http://schemas.microsoft.com/office/drawing/2014/main" id="{F966AC5E-3B4D-524B-B3AE-A5267FAD281D}"/>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073102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 Subtitle">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55509" y="1381004"/>
            <a:ext cx="5474569" cy="580605"/>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5" name="Text Placeholder 4"/>
          <p:cNvSpPr>
            <a:spLocks noGrp="1"/>
          </p:cNvSpPr>
          <p:nvPr>
            <p:ph type="body" sz="quarter" idx="3"/>
          </p:nvPr>
        </p:nvSpPr>
        <p:spPr>
          <a:xfrm>
            <a:off x="6385192" y="1381003"/>
            <a:ext cx="5387630" cy="580606"/>
          </a:xfrm>
          <a:prstGeom prst="rect">
            <a:avLst/>
          </a:prstGeom>
        </p:spPr>
        <p:txBody>
          <a:bodyPr anchor="b">
            <a:normAutofit/>
          </a:bodyPr>
          <a:lstStyle>
            <a:lvl1pPr marL="0" indent="0">
              <a:buNone/>
              <a:defRPr sz="2800" b="1" u="sng">
                <a:solidFill>
                  <a:schemeClr val="accent1"/>
                </a:solidFill>
              </a:defRPr>
            </a:lvl1pPr>
            <a:lvl2pPr marL="609443" indent="0">
              <a:buNone/>
              <a:defRPr sz="2700" b="1"/>
            </a:lvl2pPr>
            <a:lvl3pPr marL="1218885" indent="0">
              <a:buNone/>
              <a:defRPr sz="2400" b="1"/>
            </a:lvl3pPr>
            <a:lvl4pPr marL="1828328" indent="0">
              <a:buNone/>
              <a:defRPr sz="2100" b="1"/>
            </a:lvl4pPr>
            <a:lvl5pPr marL="2437771" indent="0">
              <a:buNone/>
              <a:defRPr sz="2100" b="1"/>
            </a:lvl5pPr>
            <a:lvl6pPr marL="3047213" indent="0">
              <a:buNone/>
              <a:defRPr sz="2100" b="1"/>
            </a:lvl6pPr>
            <a:lvl7pPr marL="3656656" indent="0">
              <a:buNone/>
              <a:defRPr sz="2100" b="1"/>
            </a:lvl7pPr>
            <a:lvl8pPr marL="4266097" indent="0">
              <a:buNone/>
              <a:defRPr sz="2100" b="1"/>
            </a:lvl8pPr>
            <a:lvl9pPr marL="4875541" indent="0">
              <a:buNone/>
              <a:defRPr sz="2100" b="1"/>
            </a:lvl9pPr>
          </a:lstStyle>
          <a:p>
            <a:pPr lvl="0"/>
            <a:r>
              <a:rPr lang="en-US"/>
              <a:t>Click to edit Master text styles</a:t>
            </a:r>
          </a:p>
        </p:txBody>
      </p:sp>
      <p:sp>
        <p:nvSpPr>
          <p:cNvPr id="8" name="Title 1">
            <a:extLst>
              <a:ext uri="{FF2B5EF4-FFF2-40B4-BE49-F238E27FC236}">
                <a16:creationId xmlns:a16="http://schemas.microsoft.com/office/drawing/2014/main" id="{E22C09BD-60A2-D244-8F4B-695A122744A6}"/>
              </a:ext>
            </a:extLst>
          </p:cNvPr>
          <p:cNvSpPr>
            <a:spLocks noGrp="1"/>
          </p:cNvSpPr>
          <p:nvPr>
            <p:ph type="title"/>
          </p:nvPr>
        </p:nvSpPr>
        <p:spPr>
          <a:xfrm>
            <a:off x="355509" y="96297"/>
            <a:ext cx="11400661" cy="777240"/>
          </a:xfrm>
        </p:spPr>
        <p:txBody>
          <a:bodyPr/>
          <a:lstStyle/>
          <a:p>
            <a:r>
              <a:rPr lang="en-US"/>
              <a:t>Click to edit Master title style</a:t>
            </a:r>
            <a:endParaRPr lang="en-US" dirty="0"/>
          </a:p>
        </p:txBody>
      </p:sp>
      <p:sp>
        <p:nvSpPr>
          <p:cNvPr id="9" name="Text Placeholder 9">
            <a:extLst>
              <a:ext uri="{FF2B5EF4-FFF2-40B4-BE49-F238E27FC236}">
                <a16:creationId xmlns:a16="http://schemas.microsoft.com/office/drawing/2014/main" id="{E1D56C46-C13D-6843-8D78-E9DE559D36FD}"/>
              </a:ext>
            </a:extLst>
          </p:cNvPr>
          <p:cNvSpPr>
            <a:spLocks noGrp="1"/>
          </p:cNvSpPr>
          <p:nvPr>
            <p:ph type="body" sz="quarter" idx="13" hasCustomPrompt="1"/>
          </p:nvPr>
        </p:nvSpPr>
        <p:spPr>
          <a:xfrm>
            <a:off x="368603" y="831986"/>
            <a:ext cx="11400661" cy="428625"/>
          </a:xfrm>
          <a:prstGeom prst="rect">
            <a:avLst/>
          </a:prstGeom>
        </p:spPr>
        <p:txBody>
          <a:bodyPr anchor="ct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2" name="Rectangle 1">
            <a:extLst>
              <a:ext uri="{FF2B5EF4-FFF2-40B4-BE49-F238E27FC236}">
                <a16:creationId xmlns:a16="http://schemas.microsoft.com/office/drawing/2014/main" id="{F88E56A8-D17E-8848-8C5B-EC8D2FC7921A}"/>
              </a:ext>
            </a:extLst>
          </p:cNvPr>
          <p:cNvSpPr/>
          <p:nvPr userDrawn="1"/>
        </p:nvSpPr>
        <p:spPr>
          <a:xfrm>
            <a:off x="10436087" y="6490880"/>
            <a:ext cx="129209" cy="19815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Content Placeholder 12">
            <a:extLst>
              <a:ext uri="{FF2B5EF4-FFF2-40B4-BE49-F238E27FC236}">
                <a16:creationId xmlns:a16="http://schemas.microsoft.com/office/drawing/2014/main" id="{61902A9B-4EBD-9042-9417-398D31C80DB0}"/>
              </a:ext>
            </a:extLst>
          </p:cNvPr>
          <p:cNvSpPr>
            <a:spLocks noGrp="1"/>
          </p:cNvSpPr>
          <p:nvPr>
            <p:ph sz="quarter" idx="15"/>
          </p:nvPr>
        </p:nvSpPr>
        <p:spPr>
          <a:xfrm>
            <a:off x="355509" y="1988634"/>
            <a:ext cx="5474567"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2">
            <a:extLst>
              <a:ext uri="{FF2B5EF4-FFF2-40B4-BE49-F238E27FC236}">
                <a16:creationId xmlns:a16="http://schemas.microsoft.com/office/drawing/2014/main" id="{326E65A8-182F-624C-B231-E6CD084CC095}"/>
              </a:ext>
            </a:extLst>
          </p:cNvPr>
          <p:cNvSpPr>
            <a:spLocks noGrp="1"/>
          </p:cNvSpPr>
          <p:nvPr>
            <p:ph sz="quarter" idx="16"/>
          </p:nvPr>
        </p:nvSpPr>
        <p:spPr>
          <a:xfrm>
            <a:off x="6385193" y="1988634"/>
            <a:ext cx="5387630" cy="4327704"/>
          </a:xfrm>
          <a:prstGeom prst="rect">
            <a:avLst/>
          </a:prstGeom>
        </p:spPr>
        <p:txBody>
          <a:bodyPr/>
          <a:lstStyle>
            <a:lvl1pPr marL="274201" indent="-274201">
              <a:defRPr/>
            </a:lvl1pPr>
            <a:lvl2pPr marL="576072" indent="-274320">
              <a:defRPr/>
            </a:lvl2pPr>
            <a:lvl3pPr marL="868680" indent="-274320">
              <a:defRPr/>
            </a:lvl3pPr>
            <a:lvl4pPr marL="1143000" indent="-274320">
              <a:defRPr/>
            </a:lvl4pPr>
            <a:lvl5pPr marL="1435608" indent="-27432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4">
            <a:extLst>
              <a:ext uri="{FF2B5EF4-FFF2-40B4-BE49-F238E27FC236}">
                <a16:creationId xmlns:a16="http://schemas.microsoft.com/office/drawing/2014/main" id="{4985913B-9067-5E4F-BEB8-B40B0526CDDE}"/>
              </a:ext>
            </a:extLst>
          </p:cNvPr>
          <p:cNvSpPr>
            <a:spLocks noGrp="1"/>
          </p:cNvSpPr>
          <p:nvPr>
            <p:ph type="ftr" sz="quarter" idx="17"/>
          </p:nvPr>
        </p:nvSpPr>
        <p:spPr>
          <a:xfrm>
            <a:off x="4164514" y="6479339"/>
            <a:ext cx="3859795" cy="233968"/>
          </a:xfrm>
          <a:prstGeom prst="rect">
            <a:avLst/>
          </a:prstGeom>
        </p:spPr>
        <p:txBody>
          <a:bodyPr vert="horz" lIns="121888" tIns="60944" rIns="121888" bIns="60944" rtlCol="0" anchor="ctr"/>
          <a:lstStyle>
            <a:lvl1pPr algn="ctr">
              <a:defRPr sz="1000">
                <a:solidFill>
                  <a:schemeClr val="tx1">
                    <a:tint val="75000"/>
                  </a:schemeClr>
                </a:solidFill>
              </a:defRPr>
            </a:lvl1pPr>
          </a:lstStyle>
          <a:p>
            <a:r>
              <a:rPr lang="en-US">
                <a:latin typeface="Calibri Light" panose="020F0302020204030204" pitchFamily="34" charset="0"/>
                <a:cs typeface="Calibri Light" panose="020F0302020204030204" pitchFamily="34" charset="0"/>
              </a:rPr>
              <a:t>Microchip Propietary and Confidential</a:t>
            </a:r>
            <a:endParaRPr lang="en-US" dirty="0">
              <a:latin typeface="Calibri Light" panose="020F0302020204030204" pitchFamily="34" charset="0"/>
              <a:cs typeface="Calibri Light" panose="020F0302020204030204" pitchFamily="34" charset="0"/>
            </a:endParaRPr>
          </a:p>
        </p:txBody>
      </p:sp>
      <p:sp>
        <p:nvSpPr>
          <p:cNvPr id="13" name="Slide Number Placeholder 8">
            <a:extLst>
              <a:ext uri="{FF2B5EF4-FFF2-40B4-BE49-F238E27FC236}">
                <a16:creationId xmlns:a16="http://schemas.microsoft.com/office/drawing/2014/main" id="{099EDC09-5657-6C4E-AE82-350208BA5C37}"/>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14" name="Group 13">
            <a:extLst>
              <a:ext uri="{FF2B5EF4-FFF2-40B4-BE49-F238E27FC236}">
                <a16:creationId xmlns:a16="http://schemas.microsoft.com/office/drawing/2014/main" id="{EFDC922F-64A0-A245-9B54-7182667660D0}"/>
              </a:ext>
            </a:extLst>
          </p:cNvPr>
          <p:cNvGrpSpPr/>
          <p:nvPr userDrawn="1"/>
        </p:nvGrpSpPr>
        <p:grpSpPr>
          <a:xfrm>
            <a:off x="3984798" y="6596323"/>
            <a:ext cx="3594287" cy="261677"/>
            <a:chOff x="3984798" y="6596323"/>
            <a:chExt cx="3594287" cy="261677"/>
          </a:xfrm>
        </p:grpSpPr>
        <p:sp>
          <p:nvSpPr>
            <p:cNvPr id="15" name="TextBox 14">
              <a:extLst>
                <a:ext uri="{FF2B5EF4-FFF2-40B4-BE49-F238E27FC236}">
                  <a16:creationId xmlns:a16="http://schemas.microsoft.com/office/drawing/2014/main" id="{9328C046-B8FC-994F-85A4-8FD25DF19D2F}"/>
                </a:ext>
              </a:extLst>
            </p:cNvPr>
            <p:cNvSpPr txBox="1"/>
            <p:nvPr userDrawn="1"/>
          </p:nvSpPr>
          <p:spPr>
            <a:xfrm>
              <a:off x="3984798" y="6596323"/>
              <a:ext cx="3594287" cy="246221"/>
            </a:xfrm>
            <a:prstGeom prst="rect">
              <a:avLst/>
            </a:prstGeom>
            <a:noFill/>
          </p:spPr>
          <p:txBody>
            <a:bodyPr wrap="square" rtlCol="0">
              <a:spAutoFit/>
            </a:bodyPr>
            <a:lstStyle/>
            <a:p>
              <a:pPr algn="r"/>
              <a:fld id="{AB520446-FD47-794F-A313-0EC6DBF6114F}"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6" name="Rectangle 15">
              <a:extLst>
                <a:ext uri="{FF2B5EF4-FFF2-40B4-BE49-F238E27FC236}">
                  <a16:creationId xmlns:a16="http://schemas.microsoft.com/office/drawing/2014/main" id="{4CEB0F66-0524-644B-A3CD-BA2A14891286}"/>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7" name="TextBox 16">
              <a:extLst>
                <a:ext uri="{FF2B5EF4-FFF2-40B4-BE49-F238E27FC236}">
                  <a16:creationId xmlns:a16="http://schemas.microsoft.com/office/drawing/2014/main" id="{7885BC8B-986D-8044-8033-3156B5F78D3D}"/>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Tree>
    <p:extLst>
      <p:ext uri="{BB962C8B-B14F-4D97-AF65-F5344CB8AC3E}">
        <p14:creationId xmlns:p14="http://schemas.microsoft.com/office/powerpoint/2010/main" val="21673121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B3394856-2C64-DE43-BBDF-953266084231}"/>
              </a:ext>
            </a:extLst>
          </p:cNvPr>
          <p:cNvSpPr>
            <a:spLocks noGrp="1"/>
          </p:cNvSpPr>
          <p:nvPr>
            <p:ph type="title"/>
          </p:nvPr>
        </p:nvSpPr>
        <p:spPr>
          <a:xfrm>
            <a:off x="355509" y="96296"/>
            <a:ext cx="11400661" cy="1600406"/>
          </a:xfrm>
          <a:prstGeom prst="rect">
            <a:avLst/>
          </a:prstGeom>
        </p:spPr>
        <p:txBody>
          <a:bodyPr vert="horz" lIns="121888" tIns="60944" rIns="121888" bIns="60944" rtlCol="0" anchor="t" anchorCtr="0">
            <a:noAutofit/>
          </a:bodyPr>
          <a:lstStyle/>
          <a:p>
            <a:r>
              <a:rPr lang="en-US"/>
              <a:t>Click to edit Master title style</a:t>
            </a:r>
            <a:endParaRPr lang="en-US" dirty="0"/>
          </a:p>
        </p:txBody>
      </p:sp>
      <p:sp>
        <p:nvSpPr>
          <p:cNvPr id="4" name="Slide Number Placeholder 8">
            <a:extLst>
              <a:ext uri="{FF2B5EF4-FFF2-40B4-BE49-F238E27FC236}">
                <a16:creationId xmlns:a16="http://schemas.microsoft.com/office/drawing/2014/main" id="{CF750018-A4D6-1844-ABEB-36F0723124EE}"/>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7" name="Group 6">
            <a:extLst>
              <a:ext uri="{FF2B5EF4-FFF2-40B4-BE49-F238E27FC236}">
                <a16:creationId xmlns:a16="http://schemas.microsoft.com/office/drawing/2014/main" id="{F054FF79-E97B-4A45-8531-09115531EF4A}"/>
              </a:ext>
            </a:extLst>
          </p:cNvPr>
          <p:cNvGrpSpPr/>
          <p:nvPr userDrawn="1"/>
        </p:nvGrpSpPr>
        <p:grpSpPr>
          <a:xfrm>
            <a:off x="3984798" y="6596323"/>
            <a:ext cx="3594287" cy="261677"/>
            <a:chOff x="3984798" y="6596323"/>
            <a:chExt cx="3594287" cy="261677"/>
          </a:xfrm>
        </p:grpSpPr>
        <p:sp>
          <p:nvSpPr>
            <p:cNvPr id="8" name="TextBox 7">
              <a:extLst>
                <a:ext uri="{FF2B5EF4-FFF2-40B4-BE49-F238E27FC236}">
                  <a16:creationId xmlns:a16="http://schemas.microsoft.com/office/drawing/2014/main" id="{A96C4752-EFF3-2B44-8E4B-F4DEFD9A25AA}"/>
                </a:ext>
              </a:extLst>
            </p:cNvPr>
            <p:cNvSpPr txBox="1"/>
            <p:nvPr userDrawn="1"/>
          </p:nvSpPr>
          <p:spPr>
            <a:xfrm>
              <a:off x="3984798" y="6596323"/>
              <a:ext cx="3594287" cy="246221"/>
            </a:xfrm>
            <a:prstGeom prst="rect">
              <a:avLst/>
            </a:prstGeom>
            <a:noFill/>
          </p:spPr>
          <p:txBody>
            <a:bodyPr wrap="square" rtlCol="0">
              <a:spAutoFit/>
            </a:bodyPr>
            <a:lstStyle/>
            <a:p>
              <a:pPr algn="r"/>
              <a:fld id="{3BFC65E3-DBEB-1842-AA6D-2998A3A3FD5B}"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9" name="Rectangle 8">
              <a:extLst>
                <a:ext uri="{FF2B5EF4-FFF2-40B4-BE49-F238E27FC236}">
                  <a16:creationId xmlns:a16="http://schemas.microsoft.com/office/drawing/2014/main" id="{12E21974-58F0-B847-85B6-BB315041D590}"/>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TextBox 9">
              <a:extLst>
                <a:ext uri="{FF2B5EF4-FFF2-40B4-BE49-F238E27FC236}">
                  <a16:creationId xmlns:a16="http://schemas.microsoft.com/office/drawing/2014/main" id="{41A98491-2152-B244-BD39-4FE185E36846}"/>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
        <p:nvSpPr>
          <p:cNvPr id="2" name="Footer Placeholder 4">
            <a:extLst>
              <a:ext uri="{FF2B5EF4-FFF2-40B4-BE49-F238E27FC236}">
                <a16:creationId xmlns:a16="http://schemas.microsoft.com/office/drawing/2014/main" id="{569BD278-9539-A862-80B7-8CA0D4759CA3}"/>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280212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 Subtitle Only">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E966262-8B36-DB45-BCFF-E847EDF91C15}"/>
              </a:ext>
            </a:extLst>
          </p:cNvPr>
          <p:cNvSpPr>
            <a:spLocks noGrp="1"/>
          </p:cNvSpPr>
          <p:nvPr>
            <p:ph type="title"/>
          </p:nvPr>
        </p:nvSpPr>
        <p:spPr>
          <a:xfrm>
            <a:off x="355509" y="96295"/>
            <a:ext cx="11400661" cy="777240"/>
          </a:xfrm>
        </p:spPr>
        <p:txBody>
          <a:bodyPr/>
          <a:lstStyle>
            <a:lvl1pPr>
              <a:defRPr>
                <a:solidFill>
                  <a:srgbClr val="0E3689"/>
                </a:solidFill>
              </a:defRPr>
            </a:lvl1pPr>
          </a:lstStyle>
          <a:p>
            <a:r>
              <a:rPr lang="en-US"/>
              <a:t>Click to edit Master title style</a:t>
            </a:r>
            <a:endParaRPr lang="en-US" dirty="0"/>
          </a:p>
        </p:txBody>
      </p:sp>
      <p:sp>
        <p:nvSpPr>
          <p:cNvPr id="7" name="Text Placeholder 9">
            <a:extLst>
              <a:ext uri="{FF2B5EF4-FFF2-40B4-BE49-F238E27FC236}">
                <a16:creationId xmlns:a16="http://schemas.microsoft.com/office/drawing/2014/main" id="{8F614E39-BA14-7D4B-8328-2FB5286D32B7}"/>
              </a:ext>
            </a:extLst>
          </p:cNvPr>
          <p:cNvSpPr>
            <a:spLocks noGrp="1"/>
          </p:cNvSpPr>
          <p:nvPr>
            <p:ph type="body" sz="quarter" idx="13" hasCustomPrompt="1"/>
          </p:nvPr>
        </p:nvSpPr>
        <p:spPr>
          <a:xfrm>
            <a:off x="368603" y="829115"/>
            <a:ext cx="11400661" cy="428625"/>
          </a:xfrm>
          <a:prstGeom prst="rect">
            <a:avLst/>
          </a:prstGeom>
        </p:spPr>
        <p:txBody>
          <a:bodyPr anchor="ctr">
            <a:noAutofit/>
          </a:bodyPr>
          <a:lstStyle>
            <a:lvl1pPr marL="0" indent="0">
              <a:buNone/>
              <a:defRPr>
                <a:solidFill>
                  <a:schemeClr val="bg2"/>
                </a:solidFill>
              </a:defRPr>
            </a:lvl1pPr>
          </a:lstStyle>
          <a:p>
            <a:pPr lvl="0"/>
            <a:r>
              <a:rPr lang="en-US" b="1" kern="0" dirty="0">
                <a:solidFill>
                  <a:srgbClr val="45A8C4"/>
                </a:solidFill>
                <a:latin typeface="+mn-lt"/>
                <a:cs typeface="Calibri"/>
              </a:rPr>
              <a:t>Subtitle</a:t>
            </a:r>
            <a:endParaRPr lang="en-US" dirty="0"/>
          </a:p>
        </p:txBody>
      </p:sp>
      <p:sp>
        <p:nvSpPr>
          <p:cNvPr id="6" name="Slide Number Placeholder 8">
            <a:extLst>
              <a:ext uri="{FF2B5EF4-FFF2-40B4-BE49-F238E27FC236}">
                <a16:creationId xmlns:a16="http://schemas.microsoft.com/office/drawing/2014/main" id="{ACCBDF1D-727A-8D40-8A82-92589DBBC3CA}"/>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8" name="Group 7">
            <a:extLst>
              <a:ext uri="{FF2B5EF4-FFF2-40B4-BE49-F238E27FC236}">
                <a16:creationId xmlns:a16="http://schemas.microsoft.com/office/drawing/2014/main" id="{33604027-1BF3-C14F-877E-5C7EE39F69C0}"/>
              </a:ext>
            </a:extLst>
          </p:cNvPr>
          <p:cNvGrpSpPr/>
          <p:nvPr userDrawn="1"/>
        </p:nvGrpSpPr>
        <p:grpSpPr>
          <a:xfrm>
            <a:off x="3984798" y="6596323"/>
            <a:ext cx="3594287" cy="261677"/>
            <a:chOff x="3984798" y="6596323"/>
            <a:chExt cx="3594287" cy="261677"/>
          </a:xfrm>
        </p:grpSpPr>
        <p:sp>
          <p:nvSpPr>
            <p:cNvPr id="9" name="TextBox 8">
              <a:extLst>
                <a:ext uri="{FF2B5EF4-FFF2-40B4-BE49-F238E27FC236}">
                  <a16:creationId xmlns:a16="http://schemas.microsoft.com/office/drawing/2014/main" id="{B834F8B5-2138-234E-903C-B35966BCD117}"/>
                </a:ext>
              </a:extLst>
            </p:cNvPr>
            <p:cNvSpPr txBox="1"/>
            <p:nvPr userDrawn="1"/>
          </p:nvSpPr>
          <p:spPr>
            <a:xfrm>
              <a:off x="3984798" y="6596323"/>
              <a:ext cx="3594287" cy="246221"/>
            </a:xfrm>
            <a:prstGeom prst="rect">
              <a:avLst/>
            </a:prstGeom>
            <a:noFill/>
          </p:spPr>
          <p:txBody>
            <a:bodyPr wrap="square" rtlCol="0">
              <a:spAutoFit/>
            </a:bodyPr>
            <a:lstStyle/>
            <a:p>
              <a:pPr algn="r"/>
              <a:fld id="{69AB5E9E-CCD6-9040-9CA1-3DCB3C4DE5FC}"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10" name="Rectangle 9">
              <a:extLst>
                <a:ext uri="{FF2B5EF4-FFF2-40B4-BE49-F238E27FC236}">
                  <a16:creationId xmlns:a16="http://schemas.microsoft.com/office/drawing/2014/main" id="{30394146-079F-A945-B1E9-105CEE8A4D91}"/>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TextBox 10">
              <a:extLst>
                <a:ext uri="{FF2B5EF4-FFF2-40B4-BE49-F238E27FC236}">
                  <a16:creationId xmlns:a16="http://schemas.microsoft.com/office/drawing/2014/main" id="{8F7A5633-2AD4-2D44-AC80-6A32A00CAC6A}"/>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
        <p:nvSpPr>
          <p:cNvPr id="2" name="Footer Placeholder 4">
            <a:extLst>
              <a:ext uri="{FF2B5EF4-FFF2-40B4-BE49-F238E27FC236}">
                <a16:creationId xmlns:a16="http://schemas.microsoft.com/office/drawing/2014/main" id="{21F718E3-F54C-26CF-B47E-00BA8F461EB8}"/>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4943277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8">
            <a:extLst>
              <a:ext uri="{FF2B5EF4-FFF2-40B4-BE49-F238E27FC236}">
                <a16:creationId xmlns:a16="http://schemas.microsoft.com/office/drawing/2014/main" id="{C025A1E1-D99B-A04E-A12E-D4E8E63C0B3D}"/>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grpSp>
        <p:nvGrpSpPr>
          <p:cNvPr id="5" name="Group 4">
            <a:extLst>
              <a:ext uri="{FF2B5EF4-FFF2-40B4-BE49-F238E27FC236}">
                <a16:creationId xmlns:a16="http://schemas.microsoft.com/office/drawing/2014/main" id="{28C8A96F-9EB8-7740-A265-0BBDA7FB1BFC}"/>
              </a:ext>
            </a:extLst>
          </p:cNvPr>
          <p:cNvGrpSpPr/>
          <p:nvPr userDrawn="1"/>
        </p:nvGrpSpPr>
        <p:grpSpPr>
          <a:xfrm>
            <a:off x="3984798" y="6596323"/>
            <a:ext cx="3594287" cy="261677"/>
            <a:chOff x="3984798" y="6596323"/>
            <a:chExt cx="3594287" cy="261677"/>
          </a:xfrm>
        </p:grpSpPr>
        <p:sp>
          <p:nvSpPr>
            <p:cNvPr id="6" name="TextBox 5">
              <a:extLst>
                <a:ext uri="{FF2B5EF4-FFF2-40B4-BE49-F238E27FC236}">
                  <a16:creationId xmlns:a16="http://schemas.microsoft.com/office/drawing/2014/main" id="{D3354E03-A149-934A-8EE2-DADBA3C644C3}"/>
                </a:ext>
              </a:extLst>
            </p:cNvPr>
            <p:cNvSpPr txBox="1"/>
            <p:nvPr userDrawn="1"/>
          </p:nvSpPr>
          <p:spPr>
            <a:xfrm>
              <a:off x="3984798" y="6596323"/>
              <a:ext cx="3594287" cy="246221"/>
            </a:xfrm>
            <a:prstGeom prst="rect">
              <a:avLst/>
            </a:prstGeom>
            <a:noFill/>
          </p:spPr>
          <p:txBody>
            <a:bodyPr wrap="square" rtlCol="0">
              <a:spAutoFit/>
            </a:bodyPr>
            <a:lstStyle/>
            <a:p>
              <a:pPr algn="r"/>
              <a:fld id="{47A855CC-F7C0-7640-82CB-E23B5A29FE53}" type="datetime3">
                <a:rPr lang="en-US" sz="1000" smtClean="0">
                  <a:solidFill>
                    <a:schemeClr val="bg1">
                      <a:lumMod val="65000"/>
                    </a:schemeClr>
                  </a:solidFill>
                </a:rPr>
                <a:t>4 June 2025</a:t>
              </a:fld>
              <a:r>
                <a:rPr lang="en-US" sz="1000" dirty="0">
                  <a:solidFill>
                    <a:schemeClr val="bg1">
                      <a:lumMod val="65000"/>
                    </a:schemeClr>
                  </a:solidFill>
                </a:rPr>
                <a:t> Microchip Technology Inc. and its subsidiaries</a:t>
              </a:r>
            </a:p>
          </p:txBody>
        </p:sp>
        <p:sp>
          <p:nvSpPr>
            <p:cNvPr id="7" name="Rectangle 6">
              <a:extLst>
                <a:ext uri="{FF2B5EF4-FFF2-40B4-BE49-F238E27FC236}">
                  <a16:creationId xmlns:a16="http://schemas.microsoft.com/office/drawing/2014/main" id="{783E9907-5B53-D94D-B91B-5D80BFCB4C36}"/>
                </a:ext>
              </a:extLst>
            </p:cNvPr>
            <p:cNvSpPr/>
            <p:nvPr userDrawn="1"/>
          </p:nvSpPr>
          <p:spPr>
            <a:xfrm>
              <a:off x="4070555" y="6611779"/>
              <a:ext cx="747251" cy="23076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TextBox 7">
              <a:extLst>
                <a:ext uri="{FF2B5EF4-FFF2-40B4-BE49-F238E27FC236}">
                  <a16:creationId xmlns:a16="http://schemas.microsoft.com/office/drawing/2014/main" id="{1D8318FC-FB83-DD43-9569-4DB052814862}"/>
                </a:ext>
              </a:extLst>
            </p:cNvPr>
            <p:cNvSpPr txBox="1"/>
            <p:nvPr userDrawn="1"/>
          </p:nvSpPr>
          <p:spPr>
            <a:xfrm>
              <a:off x="4611329" y="6611779"/>
              <a:ext cx="284763" cy="246221"/>
            </a:xfrm>
            <a:prstGeom prst="rect">
              <a:avLst/>
            </a:prstGeom>
            <a:noFill/>
          </p:spPr>
          <p:txBody>
            <a:bodyPr wrap="square" rtlCol="0">
              <a:spAutoFit/>
            </a:bodyPr>
            <a:lstStyle/>
            <a:p>
              <a:pPr algn="r"/>
              <a:r>
                <a:rPr lang="en-US" sz="1000" dirty="0">
                  <a:solidFill>
                    <a:schemeClr val="bg1">
                      <a:lumMod val="65000"/>
                    </a:schemeClr>
                  </a:solidFill>
                </a:rPr>
                <a:t>©</a:t>
              </a:r>
            </a:p>
          </p:txBody>
        </p:sp>
      </p:grpSp>
      <p:sp>
        <p:nvSpPr>
          <p:cNvPr id="2" name="Footer Placeholder 4">
            <a:extLst>
              <a:ext uri="{FF2B5EF4-FFF2-40B4-BE49-F238E27FC236}">
                <a16:creationId xmlns:a16="http://schemas.microsoft.com/office/drawing/2014/main" id="{8F9B6272-8B8D-823B-17E8-1F3C79719B2C}"/>
              </a:ext>
            </a:extLst>
          </p:cNvPr>
          <p:cNvSpPr>
            <a:spLocks noGrp="1"/>
          </p:cNvSpPr>
          <p:nvPr>
            <p:ph type="ftr" sz="quarter" idx="3"/>
          </p:nvPr>
        </p:nvSpPr>
        <p:spPr>
          <a:xfrm>
            <a:off x="4153536" y="6403834"/>
            <a:ext cx="3859795" cy="233968"/>
          </a:xfrm>
          <a:prstGeom prst="rect">
            <a:avLst/>
          </a:prstGeom>
        </p:spPr>
        <p:txBody>
          <a:bodyPr vert="horz" lIns="121888" tIns="60944" rIns="121888" bIns="60944" rtlCol="0" anchor="ctr"/>
          <a:lstStyle>
            <a:lvl1pPr algn="ctr">
              <a:defRPr sz="1000">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Tree>
    <p:extLst>
      <p:ext uri="{BB962C8B-B14F-4D97-AF65-F5344CB8AC3E}">
        <p14:creationId xmlns:p14="http://schemas.microsoft.com/office/powerpoint/2010/main" val="778931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MCHP-logo.jpg"/>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583436" y="6396138"/>
            <a:ext cx="1447127" cy="364442"/>
          </a:xfrm>
          <a:prstGeom prst="rect">
            <a:avLst/>
          </a:prstGeom>
        </p:spPr>
      </p:pic>
      <p:sp>
        <p:nvSpPr>
          <p:cNvPr id="2" name="Title Placeholder 1"/>
          <p:cNvSpPr>
            <a:spLocks noGrp="1"/>
          </p:cNvSpPr>
          <p:nvPr>
            <p:ph type="title"/>
          </p:nvPr>
        </p:nvSpPr>
        <p:spPr>
          <a:xfrm>
            <a:off x="355509" y="96296"/>
            <a:ext cx="11400661" cy="942795"/>
          </a:xfrm>
          <a:prstGeom prst="rect">
            <a:avLst/>
          </a:prstGeom>
        </p:spPr>
        <p:txBody>
          <a:bodyPr vert="horz" lIns="121888" tIns="60944" rIns="121888" bIns="60944" rtlCol="0" anchor="t" anchorCtr="0">
            <a:noAutofit/>
          </a:bodyPr>
          <a:lstStyle/>
          <a:p>
            <a:r>
              <a:rPr lang="en-US" dirty="0"/>
              <a:t>Click to edit Master title</a:t>
            </a:r>
          </a:p>
        </p:txBody>
      </p:sp>
      <p:sp>
        <p:nvSpPr>
          <p:cNvPr id="3" name="Text Placeholder 2"/>
          <p:cNvSpPr>
            <a:spLocks noGrp="1"/>
          </p:cNvSpPr>
          <p:nvPr>
            <p:ph type="body" idx="1"/>
          </p:nvPr>
        </p:nvSpPr>
        <p:spPr>
          <a:xfrm>
            <a:off x="355509" y="1039091"/>
            <a:ext cx="11400661" cy="5412311"/>
          </a:xfrm>
          <a:prstGeom prst="rect">
            <a:avLst/>
          </a:prstGeom>
        </p:spPr>
        <p:txBody>
          <a:bodyPr vert="horz" lIns="121888" tIns="60944" rIns="121888" bIns="60944"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4">
            <a:extLst>
              <a:ext uri="{FF2B5EF4-FFF2-40B4-BE49-F238E27FC236}">
                <a16:creationId xmlns:a16="http://schemas.microsoft.com/office/drawing/2014/main" id="{52589C74-EF87-2646-A562-5428C2FBE5F6}"/>
              </a:ext>
            </a:extLst>
          </p:cNvPr>
          <p:cNvSpPr>
            <a:spLocks noGrp="1"/>
          </p:cNvSpPr>
          <p:nvPr>
            <p:ph type="ftr" sz="quarter" idx="3"/>
          </p:nvPr>
        </p:nvSpPr>
        <p:spPr>
          <a:xfrm>
            <a:off x="4164514" y="6479339"/>
            <a:ext cx="3859795" cy="233968"/>
          </a:xfrm>
          <a:prstGeom prst="rect">
            <a:avLst/>
          </a:prstGeom>
        </p:spPr>
        <p:txBody>
          <a:bodyPr vert="horz" lIns="121888" tIns="60944" rIns="121888" bIns="60944" rtlCol="0" anchor="ctr"/>
          <a:lstStyle>
            <a:lvl1pPr algn="ctr">
              <a:defRPr sz="1000" b="1">
                <a:solidFill>
                  <a:srgbClr val="FF0000"/>
                </a:solidFill>
              </a:defRPr>
            </a:lvl1pPr>
          </a:lstStyle>
          <a:p>
            <a:r>
              <a:rPr lang="en-US" dirty="0">
                <a:latin typeface="Calibri Light" panose="020F0302020204030204" pitchFamily="34" charset="0"/>
                <a:cs typeface="Calibri Light" panose="020F0302020204030204" pitchFamily="34" charset="0"/>
              </a:rPr>
              <a:t>Microchip </a:t>
            </a:r>
            <a:r>
              <a:rPr lang="en-US" dirty="0" err="1">
                <a:latin typeface="Calibri Light" panose="020F0302020204030204" pitchFamily="34" charset="0"/>
                <a:cs typeface="Calibri Light" panose="020F0302020204030204" pitchFamily="34" charset="0"/>
              </a:rPr>
              <a:t>Propietary</a:t>
            </a:r>
            <a:r>
              <a:rPr lang="en-US" dirty="0">
                <a:latin typeface="Calibri Light" panose="020F0302020204030204" pitchFamily="34" charset="0"/>
                <a:cs typeface="Calibri Light" panose="020F0302020204030204" pitchFamily="34" charset="0"/>
              </a:rPr>
              <a:t> and Confidential</a:t>
            </a:r>
          </a:p>
        </p:txBody>
      </p:sp>
      <p:sp>
        <p:nvSpPr>
          <p:cNvPr id="9" name="Slide Number Placeholder 8">
            <a:extLst>
              <a:ext uri="{FF2B5EF4-FFF2-40B4-BE49-F238E27FC236}">
                <a16:creationId xmlns:a16="http://schemas.microsoft.com/office/drawing/2014/main" id="{A2865650-0440-F143-8EFF-C6F819EF3FF4}"/>
              </a:ext>
            </a:extLst>
          </p:cNvPr>
          <p:cNvSpPr>
            <a:spLocks noGrp="1"/>
          </p:cNvSpPr>
          <p:nvPr>
            <p:ph type="sldNum" sz="quarter" idx="4"/>
          </p:nvPr>
        </p:nvSpPr>
        <p:spPr>
          <a:xfrm>
            <a:off x="153172" y="6455581"/>
            <a:ext cx="386650" cy="364443"/>
          </a:xfrm>
          <a:prstGeom prst="rect">
            <a:avLst/>
          </a:prstGeom>
        </p:spPr>
        <p:txBody>
          <a:bodyPr vert="horz" lIns="91440" tIns="45720" rIns="91440" bIns="45720" rtlCol="0" anchor="ctr"/>
          <a:lstStyle>
            <a:lvl1pPr algn="r">
              <a:defRPr sz="1200">
                <a:solidFill>
                  <a:schemeClr val="tx1">
                    <a:tint val="75000"/>
                  </a:schemeClr>
                </a:solidFill>
              </a:defRPr>
            </a:lvl1pPr>
          </a:lstStyle>
          <a:p>
            <a:fld id="{4081AA82-C1C2-924B-B843-6C0FB13ED72E}" type="slidenum">
              <a:rPr lang="en-US" smtClean="0"/>
              <a:t>‹#›</a:t>
            </a:fld>
            <a:endParaRPr lang="en-US"/>
          </a:p>
        </p:txBody>
      </p:sp>
    </p:spTree>
    <p:extLst>
      <p:ext uri="{BB962C8B-B14F-4D97-AF65-F5344CB8AC3E}">
        <p14:creationId xmlns:p14="http://schemas.microsoft.com/office/powerpoint/2010/main" val="217697904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6" r:id="rId4"/>
    <p:sldLayoutId id="2147483660" r:id="rId5"/>
    <p:sldLayoutId id="2147483652" r:id="rId6"/>
    <p:sldLayoutId id="2147483657" r:id="rId7"/>
    <p:sldLayoutId id="2147483653" r:id="rId8"/>
    <p:sldLayoutId id="2147483658" r:id="rId9"/>
    <p:sldLayoutId id="2147483654" r:id="rId10"/>
    <p:sldLayoutId id="2147483659" r:id="rId11"/>
    <p:sldLayoutId id="2147483655" r:id="rId12"/>
  </p:sldLayoutIdLst>
  <p:hf sldNum="0" hdr="0" ftr="0" dt="0"/>
  <p:txStyles>
    <p:titleStyle>
      <a:lvl1pPr algn="l" defTabSz="609443" rtl="0" eaLnBrk="1" latinLnBrk="0" hangingPunct="1">
        <a:lnSpc>
          <a:spcPct val="100000"/>
        </a:lnSpc>
        <a:spcBef>
          <a:spcPct val="0"/>
        </a:spcBef>
        <a:buNone/>
        <a:defRPr sz="4400" b="1" kern="1200" normalizeH="0" baseline="0">
          <a:solidFill>
            <a:srgbClr val="0E3689"/>
          </a:solidFill>
          <a:latin typeface="+mj-lt"/>
          <a:ea typeface="+mj-ea"/>
          <a:cs typeface="+mj-cs"/>
        </a:defRPr>
      </a:lvl1pPr>
    </p:titleStyle>
    <p:bodyStyle>
      <a:lvl1pPr marL="274320" indent="-274320"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9443" rtl="0" eaLnBrk="1" latinLnBrk="0" hangingPunct="1">
        <a:defRPr sz="2400" kern="1200">
          <a:solidFill>
            <a:schemeClr val="tx1"/>
          </a:solidFill>
          <a:latin typeface="+mn-lt"/>
          <a:ea typeface="+mn-ea"/>
          <a:cs typeface="+mn-cs"/>
        </a:defRPr>
      </a:lvl1pPr>
      <a:lvl2pPr marL="609443" algn="l" defTabSz="609443" rtl="0" eaLnBrk="1" latinLnBrk="0" hangingPunct="1">
        <a:defRPr sz="2400" kern="1200">
          <a:solidFill>
            <a:schemeClr val="tx1"/>
          </a:solidFill>
          <a:latin typeface="+mn-lt"/>
          <a:ea typeface="+mn-ea"/>
          <a:cs typeface="+mn-cs"/>
        </a:defRPr>
      </a:lvl2pPr>
      <a:lvl3pPr marL="1218885" algn="l" defTabSz="609443" rtl="0" eaLnBrk="1" latinLnBrk="0" hangingPunct="1">
        <a:defRPr sz="2400" kern="1200">
          <a:solidFill>
            <a:schemeClr val="tx1"/>
          </a:solidFill>
          <a:latin typeface="+mn-lt"/>
          <a:ea typeface="+mn-ea"/>
          <a:cs typeface="+mn-cs"/>
        </a:defRPr>
      </a:lvl3pPr>
      <a:lvl4pPr marL="1828328" algn="l" defTabSz="609443" rtl="0" eaLnBrk="1" latinLnBrk="0" hangingPunct="1">
        <a:defRPr sz="2400" kern="1200">
          <a:solidFill>
            <a:schemeClr val="tx1"/>
          </a:solidFill>
          <a:latin typeface="+mn-lt"/>
          <a:ea typeface="+mn-ea"/>
          <a:cs typeface="+mn-cs"/>
        </a:defRPr>
      </a:lvl4pPr>
      <a:lvl5pPr marL="2437771" algn="l" defTabSz="609443" rtl="0" eaLnBrk="1" latinLnBrk="0" hangingPunct="1">
        <a:defRPr sz="2400" kern="1200">
          <a:solidFill>
            <a:schemeClr val="tx1"/>
          </a:solidFill>
          <a:latin typeface="+mn-lt"/>
          <a:ea typeface="+mn-ea"/>
          <a:cs typeface="+mn-cs"/>
        </a:defRPr>
      </a:lvl5pPr>
      <a:lvl6pPr marL="3047213" algn="l" defTabSz="609443" rtl="0" eaLnBrk="1" latinLnBrk="0" hangingPunct="1">
        <a:defRPr sz="2400" kern="1200">
          <a:solidFill>
            <a:schemeClr val="tx1"/>
          </a:solidFill>
          <a:latin typeface="+mn-lt"/>
          <a:ea typeface="+mn-ea"/>
          <a:cs typeface="+mn-cs"/>
        </a:defRPr>
      </a:lvl6pPr>
      <a:lvl7pPr marL="3656656" algn="l" defTabSz="609443" rtl="0" eaLnBrk="1" latinLnBrk="0" hangingPunct="1">
        <a:defRPr sz="2400" kern="1200">
          <a:solidFill>
            <a:schemeClr val="tx1"/>
          </a:solidFill>
          <a:latin typeface="+mn-lt"/>
          <a:ea typeface="+mn-ea"/>
          <a:cs typeface="+mn-cs"/>
        </a:defRPr>
      </a:lvl7pPr>
      <a:lvl8pPr marL="4266097" algn="l" defTabSz="609443" rtl="0" eaLnBrk="1" latinLnBrk="0" hangingPunct="1">
        <a:defRPr sz="2400" kern="1200">
          <a:solidFill>
            <a:schemeClr val="tx1"/>
          </a:solidFill>
          <a:latin typeface="+mn-lt"/>
          <a:ea typeface="+mn-ea"/>
          <a:cs typeface="+mn-cs"/>
        </a:defRPr>
      </a:lvl8pPr>
      <a:lvl9pPr marL="4875541" algn="l" defTabSz="609443"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59" userDrawn="1">
          <p15:clr>
            <a:srgbClr val="F26B43"/>
          </p15:clr>
        </p15:guide>
        <p15:guide id="2" pos="16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Microchip-MPLAB-Harmony/tflite-micro-apps" TargetMode="Externa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swapna-gg1/tfliteExamples" TargetMode="Externa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www.microchip.com/en-us/support/design-help/client-support-services"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D5AD1-9690-5240-8658-BB480F7CE2E7}"/>
              </a:ext>
            </a:extLst>
          </p:cNvPr>
          <p:cNvSpPr>
            <a:spLocks noGrp="1"/>
          </p:cNvSpPr>
          <p:nvPr>
            <p:ph type="title"/>
          </p:nvPr>
        </p:nvSpPr>
        <p:spPr/>
        <p:txBody>
          <a:bodyPr/>
          <a:lstStyle/>
          <a:p>
            <a:r>
              <a:rPr lang="en-US" dirty="0"/>
              <a:t>ML Model Training</a:t>
            </a:r>
          </a:p>
        </p:txBody>
      </p:sp>
      <p:sp>
        <p:nvSpPr>
          <p:cNvPr id="3" name="Text Placeholder 2">
            <a:extLst>
              <a:ext uri="{FF2B5EF4-FFF2-40B4-BE49-F238E27FC236}">
                <a16:creationId xmlns:a16="http://schemas.microsoft.com/office/drawing/2014/main" id="{97932421-4259-2644-8AE9-B73E6A93194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705613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27DE-7D4A-96FA-F359-FA46BF71ACF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67DED7F-E7A0-4257-8213-9410E38D48C7}"/>
              </a:ext>
            </a:extLst>
          </p:cNvPr>
          <p:cNvSpPr>
            <a:spLocks noGrp="1"/>
          </p:cNvSpPr>
          <p:nvPr>
            <p:ph type="title"/>
          </p:nvPr>
        </p:nvSpPr>
        <p:spPr/>
        <p:txBody>
          <a:bodyPr/>
          <a:lstStyle/>
          <a:p>
            <a:r>
              <a:rPr lang="en-US" dirty="0"/>
              <a:t>TensorFlow</a:t>
            </a:r>
          </a:p>
        </p:txBody>
      </p:sp>
      <p:sp>
        <p:nvSpPr>
          <p:cNvPr id="8" name="Text Placeholder 7">
            <a:extLst>
              <a:ext uri="{FF2B5EF4-FFF2-40B4-BE49-F238E27FC236}">
                <a16:creationId xmlns:a16="http://schemas.microsoft.com/office/drawing/2014/main" id="{4D668AF2-DFDC-939D-5F2A-3C7453888D6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68978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41656-BC6E-0F54-7768-0A6B526011ED}"/>
              </a:ext>
            </a:extLst>
          </p:cNvPr>
          <p:cNvSpPr>
            <a:spLocks noGrp="1"/>
          </p:cNvSpPr>
          <p:nvPr>
            <p:ph type="title"/>
          </p:nvPr>
        </p:nvSpPr>
        <p:spPr/>
        <p:txBody>
          <a:bodyPr/>
          <a:lstStyle/>
          <a:p>
            <a:r>
              <a:rPr lang="en-US" dirty="0"/>
              <a:t>CNN-based approach</a:t>
            </a:r>
          </a:p>
        </p:txBody>
      </p:sp>
      <p:sp>
        <p:nvSpPr>
          <p:cNvPr id="3" name="Content Placeholder 2">
            <a:extLst>
              <a:ext uri="{FF2B5EF4-FFF2-40B4-BE49-F238E27FC236}">
                <a16:creationId xmlns:a16="http://schemas.microsoft.com/office/drawing/2014/main" id="{D2959E2E-5358-A126-F991-C0772E64B2FA}"/>
              </a:ext>
            </a:extLst>
          </p:cNvPr>
          <p:cNvSpPr>
            <a:spLocks noGrp="1"/>
          </p:cNvSpPr>
          <p:nvPr>
            <p:ph sz="quarter" idx="13"/>
          </p:nvPr>
        </p:nvSpPr>
        <p:spPr/>
        <p:txBody>
          <a:bodyPr>
            <a:normAutofit/>
          </a:bodyPr>
          <a:lstStyle/>
          <a:p>
            <a:r>
              <a:rPr lang="en-US" dirty="0"/>
              <a:t>Use of the TensorFlow framework for the model training.</a:t>
            </a:r>
          </a:p>
          <a:p>
            <a:r>
              <a:rPr lang="en-US" dirty="0"/>
              <a:t>Need of cloud compute capabilities.</a:t>
            </a:r>
          </a:p>
          <a:p>
            <a:pPr lvl="1"/>
            <a:r>
              <a:rPr lang="en-US" dirty="0"/>
              <a:t>Amazon AWS (EC4), Google Collab, etc….</a:t>
            </a:r>
          </a:p>
          <a:p>
            <a:r>
              <a:rPr lang="en-US" dirty="0"/>
              <a:t>Model structure (simplified representation).</a:t>
            </a:r>
          </a:p>
          <a:p>
            <a:endParaRPr lang="en-US" dirty="0"/>
          </a:p>
          <a:p>
            <a:endParaRPr lang="en-US" dirty="0"/>
          </a:p>
          <a:p>
            <a:endParaRPr lang="en-US" dirty="0"/>
          </a:p>
          <a:p>
            <a:endParaRPr lang="en-US" dirty="0"/>
          </a:p>
        </p:txBody>
      </p:sp>
      <p:pic>
        <p:nvPicPr>
          <p:cNvPr id="5" name="Picture 4" descr="A group of red and white squares&#10;&#10;AI-generated content may be incorrect.">
            <a:extLst>
              <a:ext uri="{FF2B5EF4-FFF2-40B4-BE49-F238E27FC236}">
                <a16:creationId xmlns:a16="http://schemas.microsoft.com/office/drawing/2014/main" id="{2EF7CF56-04F4-FC26-5473-1F658E7C1B7D}"/>
              </a:ext>
            </a:extLst>
          </p:cNvPr>
          <p:cNvPicPr>
            <a:picLocks noChangeAspect="1"/>
          </p:cNvPicPr>
          <p:nvPr/>
        </p:nvPicPr>
        <p:blipFill>
          <a:blip r:embed="rId3"/>
          <a:stretch>
            <a:fillRect/>
          </a:stretch>
        </p:blipFill>
        <p:spPr>
          <a:xfrm>
            <a:off x="671645" y="3008201"/>
            <a:ext cx="10845533" cy="3350372"/>
          </a:xfrm>
          <a:prstGeom prst="rect">
            <a:avLst/>
          </a:prstGeom>
        </p:spPr>
      </p:pic>
    </p:spTree>
    <p:extLst>
      <p:ext uri="{BB962C8B-B14F-4D97-AF65-F5344CB8AC3E}">
        <p14:creationId xmlns:p14="http://schemas.microsoft.com/office/powerpoint/2010/main" val="92316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E59BF-B10D-49AE-B72D-D46C96B1D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D6AB4-E019-07C7-093D-CCAB8C604000}"/>
              </a:ext>
            </a:extLst>
          </p:cNvPr>
          <p:cNvSpPr>
            <a:spLocks noGrp="1"/>
          </p:cNvSpPr>
          <p:nvPr>
            <p:ph type="title"/>
          </p:nvPr>
        </p:nvSpPr>
        <p:spPr/>
        <p:txBody>
          <a:bodyPr/>
          <a:lstStyle/>
          <a:p>
            <a:r>
              <a:rPr lang="en-US" dirty="0"/>
              <a:t>CNN-based approach</a:t>
            </a:r>
          </a:p>
        </p:txBody>
      </p:sp>
      <p:sp>
        <p:nvSpPr>
          <p:cNvPr id="3" name="Content Placeholder 2">
            <a:extLst>
              <a:ext uri="{FF2B5EF4-FFF2-40B4-BE49-F238E27FC236}">
                <a16:creationId xmlns:a16="http://schemas.microsoft.com/office/drawing/2014/main" id="{CAF9E0F2-E5FB-58E3-84D9-B4874DAAAF0F}"/>
              </a:ext>
            </a:extLst>
          </p:cNvPr>
          <p:cNvSpPr>
            <a:spLocks noGrp="1"/>
          </p:cNvSpPr>
          <p:nvPr>
            <p:ph sz="quarter" idx="13"/>
          </p:nvPr>
        </p:nvSpPr>
        <p:spPr/>
        <p:txBody>
          <a:bodyPr>
            <a:normAutofit/>
          </a:bodyPr>
          <a:lstStyle/>
          <a:p>
            <a:r>
              <a:rPr lang="en-US" dirty="0"/>
              <a:t>Model Optimizations recommended</a:t>
            </a:r>
          </a:p>
          <a:p>
            <a:pPr lvl="1"/>
            <a:r>
              <a:rPr lang="en-US" dirty="0"/>
              <a:t>Quantization</a:t>
            </a:r>
          </a:p>
          <a:p>
            <a:pPr lvl="1"/>
            <a:r>
              <a:rPr lang="en-US" dirty="0"/>
              <a:t>Quantization-aware-training (QAT)</a:t>
            </a:r>
          </a:p>
          <a:p>
            <a:pPr lvl="1"/>
            <a:r>
              <a:rPr lang="en-US" dirty="0"/>
              <a:t>Sparsity removal</a:t>
            </a:r>
          </a:p>
          <a:p>
            <a:pPr lvl="1"/>
            <a:r>
              <a:rPr lang="en-US" dirty="0"/>
              <a:t>etc </a:t>
            </a:r>
          </a:p>
          <a:p>
            <a:r>
              <a:rPr lang="en-US" dirty="0"/>
              <a:t>If needed, to optimize even more.</a:t>
            </a:r>
          </a:p>
          <a:p>
            <a:pPr lvl="1"/>
            <a:r>
              <a:rPr lang="en-US" dirty="0"/>
              <a:t>Replace Conv2D by </a:t>
            </a:r>
            <a:r>
              <a:rPr lang="en-US" dirty="0" err="1"/>
              <a:t>Depthwise</a:t>
            </a:r>
            <a:endParaRPr lang="en-US" dirty="0"/>
          </a:p>
          <a:p>
            <a:pPr lvl="1"/>
            <a:r>
              <a:rPr lang="en-US" dirty="0"/>
              <a:t>Replace flatten by 1-by-1 convolutions.</a:t>
            </a:r>
          </a:p>
          <a:p>
            <a:r>
              <a:rPr lang="en-US" dirty="0"/>
              <a:t>Model Testing</a:t>
            </a:r>
          </a:p>
          <a:p>
            <a:pPr lvl="1"/>
            <a:r>
              <a:rPr lang="en-US" dirty="0"/>
              <a:t>Use of different materials : Alginate, </a:t>
            </a:r>
            <a:r>
              <a:rPr lang="en-US" dirty="0" err="1"/>
              <a:t>BodyDouble</a:t>
            </a:r>
            <a:r>
              <a:rPr lang="en-US" dirty="0"/>
              <a:t>, </a:t>
            </a:r>
            <a:r>
              <a:rPr lang="en-US" dirty="0" err="1"/>
              <a:t>EcoFlex</a:t>
            </a:r>
            <a:r>
              <a:rPr lang="en-US" dirty="0"/>
              <a:t>, Gelatin, Glue, Latex, Printed Photo, Play Doh, Silicone, etc</a:t>
            </a:r>
          </a:p>
        </p:txBody>
      </p:sp>
    </p:spTree>
    <p:extLst>
      <p:ext uri="{BB962C8B-B14F-4D97-AF65-F5344CB8AC3E}">
        <p14:creationId xmlns:p14="http://schemas.microsoft.com/office/powerpoint/2010/main" val="856805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9647B83-F319-CD47-6FA2-41D248C74CD2}"/>
              </a:ext>
            </a:extLst>
          </p:cNvPr>
          <p:cNvSpPr>
            <a:spLocks noGrp="1"/>
          </p:cNvSpPr>
          <p:nvPr>
            <p:ph type="title"/>
          </p:nvPr>
        </p:nvSpPr>
        <p:spPr/>
        <p:txBody>
          <a:bodyPr/>
          <a:lstStyle/>
          <a:p>
            <a:r>
              <a:rPr lang="en-US" dirty="0"/>
              <a:t>Software Environment</a:t>
            </a:r>
          </a:p>
        </p:txBody>
      </p:sp>
      <p:sp>
        <p:nvSpPr>
          <p:cNvPr id="8" name="Text Placeholder 7">
            <a:extLst>
              <a:ext uri="{FF2B5EF4-FFF2-40B4-BE49-F238E27FC236}">
                <a16:creationId xmlns:a16="http://schemas.microsoft.com/office/drawing/2014/main" id="{32AA646D-1DE3-34AF-773F-CE2B66D36415}"/>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5882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Microchip MPU Software Support</a:t>
            </a:r>
          </a:p>
        </p:txBody>
      </p:sp>
      <p:sp>
        <p:nvSpPr>
          <p:cNvPr id="11" name="Text Placeholder 10">
            <a:extLst>
              <a:ext uri="{FF2B5EF4-FFF2-40B4-BE49-F238E27FC236}">
                <a16:creationId xmlns:a16="http://schemas.microsoft.com/office/drawing/2014/main" id="{5F06A8D1-65E2-4729-8DA1-C05B61B8124B}"/>
              </a:ext>
            </a:extLst>
          </p:cNvPr>
          <p:cNvSpPr>
            <a:spLocks noGrp="1"/>
          </p:cNvSpPr>
          <p:nvPr>
            <p:ph type="body" sz="quarter" idx="13"/>
          </p:nvPr>
        </p:nvSpPr>
        <p:spPr/>
        <p:txBody>
          <a:bodyPr/>
          <a:lstStyle/>
          <a:p>
            <a:r>
              <a:rPr lang="en-US" dirty="0"/>
              <a:t>Making MPU Software Easier!</a:t>
            </a:r>
          </a:p>
        </p:txBody>
      </p:sp>
      <p:sp>
        <p:nvSpPr>
          <p:cNvPr id="4" name="Content Placeholder 3"/>
          <p:cNvSpPr>
            <a:spLocks noGrp="1"/>
          </p:cNvSpPr>
          <p:nvPr>
            <p:ph sz="quarter" idx="15"/>
          </p:nvPr>
        </p:nvSpPr>
        <p:spPr/>
        <p:txBody>
          <a:bodyPr>
            <a:normAutofit/>
          </a:bodyPr>
          <a:lstStyle/>
          <a:p>
            <a:r>
              <a:rPr lang="en-US" sz="2799" dirty="0"/>
              <a:t>Dedicated Linux4Microchip Distribution</a:t>
            </a:r>
          </a:p>
          <a:p>
            <a:pPr lvl="1"/>
            <a:r>
              <a:rPr lang="en-US" sz="2399" dirty="0"/>
              <a:t>Mainline </a:t>
            </a:r>
            <a:r>
              <a:rPr lang="en-US" sz="2399" b="1" dirty="0">
                <a:solidFill>
                  <a:schemeClr val="accent3"/>
                </a:solidFill>
              </a:rPr>
              <a:t>Linux® </a:t>
            </a:r>
            <a:r>
              <a:rPr lang="en-US" sz="2399" dirty="0"/>
              <a:t>developed and supported internally</a:t>
            </a:r>
          </a:p>
          <a:p>
            <a:pPr marL="301752" lvl="1" indent="0">
              <a:buNone/>
            </a:pPr>
            <a:endParaRPr lang="en-US" sz="2399" dirty="0"/>
          </a:p>
          <a:p>
            <a:r>
              <a:rPr lang="en-US" dirty="0"/>
              <a:t>Target Long-Term Support (LTS) Linux releases​</a:t>
            </a:r>
          </a:p>
          <a:p>
            <a:pPr lvl="1"/>
            <a:r>
              <a:rPr lang="en-US" sz="2400" dirty="0"/>
              <a:t>Two updates per year</a:t>
            </a:r>
          </a:p>
          <a:p>
            <a:pPr lvl="1"/>
            <a:r>
              <a:rPr lang="en-US" sz="2400" dirty="0"/>
              <a:t> AT91RM9200 (introduced in 2002) is still supported in the latest LTS kernel​</a:t>
            </a:r>
          </a:p>
          <a:p>
            <a:pPr marL="301752" lvl="1" indent="0">
              <a:buNone/>
            </a:pPr>
            <a:endParaRPr lang="en-US" sz="2400" dirty="0"/>
          </a:p>
          <a:p>
            <a:r>
              <a:rPr lang="en-US" sz="2800" dirty="0"/>
              <a:t>Yocto Project, </a:t>
            </a:r>
            <a:r>
              <a:rPr lang="en-US" sz="2800" dirty="0" err="1"/>
              <a:t>BuildRoot</a:t>
            </a:r>
            <a:r>
              <a:rPr lang="en-US" sz="2800" dirty="0"/>
              <a:t> and </a:t>
            </a:r>
            <a:r>
              <a:rPr lang="en-US" sz="2800" dirty="0" err="1"/>
              <a:t>OpenWrt</a:t>
            </a:r>
            <a:r>
              <a:rPr lang="en-US" sz="2800" dirty="0"/>
              <a:t>® supported</a:t>
            </a:r>
          </a:p>
        </p:txBody>
      </p:sp>
      <p:pic>
        <p:nvPicPr>
          <p:cNvPr id="9" name="Picture 4" descr="C:\Documents and Settings\lperdigon\Desktop\Linux_Logo.png">
            <a:extLst>
              <a:ext uri="{FF2B5EF4-FFF2-40B4-BE49-F238E27FC236}">
                <a16:creationId xmlns:a16="http://schemas.microsoft.com/office/drawing/2014/main" id="{26E90BB4-F68B-4D5A-8C08-3162AF2280D8}"/>
              </a:ext>
            </a:extLst>
          </p:cNvPr>
          <p:cNvPicPr>
            <a:picLocks noChangeAspect="1" noChangeArrowheads="1"/>
          </p:cNvPicPr>
          <p:nvPr/>
        </p:nvPicPr>
        <p:blipFill>
          <a:blip r:embed="rId3" cstate="print"/>
          <a:srcRect/>
          <a:stretch>
            <a:fillRect/>
          </a:stretch>
        </p:blipFill>
        <p:spPr bwMode="auto">
          <a:xfrm>
            <a:off x="10016861" y="1176854"/>
            <a:ext cx="1085567" cy="1277265"/>
          </a:xfrm>
          <a:prstGeom prst="rect">
            <a:avLst/>
          </a:prstGeom>
          <a:noFill/>
          <a:ln w="9525">
            <a:noFill/>
            <a:miter lim="800000"/>
            <a:headEnd/>
            <a:tailEnd/>
          </a:ln>
        </p:spPr>
      </p:pic>
      <p:pic>
        <p:nvPicPr>
          <p:cNvPr id="5" name="Picture 4">
            <a:extLst>
              <a:ext uri="{FF2B5EF4-FFF2-40B4-BE49-F238E27FC236}">
                <a16:creationId xmlns:a16="http://schemas.microsoft.com/office/drawing/2014/main" id="{E1D26FDA-6947-DADE-60E9-497D8152BA0D}"/>
              </a:ext>
            </a:extLst>
          </p:cNvPr>
          <p:cNvPicPr>
            <a:picLocks noChangeAspect="1"/>
          </p:cNvPicPr>
          <p:nvPr/>
        </p:nvPicPr>
        <p:blipFill>
          <a:blip r:embed="rId4"/>
          <a:stretch>
            <a:fillRect/>
          </a:stretch>
        </p:blipFill>
        <p:spPr>
          <a:xfrm>
            <a:off x="904882" y="5412471"/>
            <a:ext cx="1740593" cy="776836"/>
          </a:xfrm>
          <a:prstGeom prst="rect">
            <a:avLst/>
          </a:prstGeom>
        </p:spPr>
      </p:pic>
      <p:pic>
        <p:nvPicPr>
          <p:cNvPr id="6" name="Picture 5">
            <a:extLst>
              <a:ext uri="{FF2B5EF4-FFF2-40B4-BE49-F238E27FC236}">
                <a16:creationId xmlns:a16="http://schemas.microsoft.com/office/drawing/2014/main" id="{82B8DE33-F2BB-F164-2FFC-00049A2B8954}"/>
              </a:ext>
            </a:extLst>
          </p:cNvPr>
          <p:cNvPicPr>
            <a:picLocks noChangeAspect="1"/>
          </p:cNvPicPr>
          <p:nvPr/>
        </p:nvPicPr>
        <p:blipFill rotWithShape="1">
          <a:blip r:embed="rId5"/>
          <a:srcRect t="6275"/>
          <a:stretch/>
        </p:blipFill>
        <p:spPr>
          <a:xfrm>
            <a:off x="6913580" y="5347628"/>
            <a:ext cx="2312850" cy="841679"/>
          </a:xfrm>
          <a:prstGeom prst="rect">
            <a:avLst/>
          </a:prstGeom>
        </p:spPr>
      </p:pic>
      <p:pic>
        <p:nvPicPr>
          <p:cNvPr id="14" name="Picture 13">
            <a:extLst>
              <a:ext uri="{FF2B5EF4-FFF2-40B4-BE49-F238E27FC236}">
                <a16:creationId xmlns:a16="http://schemas.microsoft.com/office/drawing/2014/main" id="{D5994AE8-527C-2E2D-AAAA-80EF1044FE32}"/>
              </a:ext>
            </a:extLst>
          </p:cNvPr>
          <p:cNvPicPr>
            <a:picLocks noChangeAspect="1"/>
          </p:cNvPicPr>
          <p:nvPr/>
        </p:nvPicPr>
        <p:blipFill>
          <a:blip r:embed="rId6"/>
          <a:stretch>
            <a:fillRect/>
          </a:stretch>
        </p:blipFill>
        <p:spPr>
          <a:xfrm>
            <a:off x="3662274" y="5248239"/>
            <a:ext cx="2080909" cy="1040455"/>
          </a:xfrm>
          <a:prstGeom prst="rect">
            <a:avLst/>
          </a:prstGeom>
        </p:spPr>
      </p:pic>
      <p:sp>
        <p:nvSpPr>
          <p:cNvPr id="2" name="Slide Number Placeholder 1">
            <a:extLst>
              <a:ext uri="{FF2B5EF4-FFF2-40B4-BE49-F238E27FC236}">
                <a16:creationId xmlns:a16="http://schemas.microsoft.com/office/drawing/2014/main" id="{65513AAA-1331-1F11-1659-4F99E174969E}"/>
              </a:ext>
            </a:extLst>
          </p:cNvPr>
          <p:cNvSpPr>
            <a:spLocks noGrp="1"/>
          </p:cNvSpPr>
          <p:nvPr>
            <p:ph type="sldNum" sz="quarter" idx="4"/>
          </p:nvPr>
        </p:nvSpPr>
        <p:spPr/>
        <p:txBody>
          <a:bodyPr/>
          <a:lstStyle/>
          <a:p>
            <a:fld id="{4081AA82-C1C2-924B-B843-6C0FB13ED72E}" type="slidenum">
              <a:rPr lang="en-US" smtClean="0"/>
              <a:t>6</a:t>
            </a:fld>
            <a:endParaRPr lang="en-US" dirty="0"/>
          </a:p>
        </p:txBody>
      </p:sp>
    </p:spTree>
    <p:extLst>
      <p:ext uri="{BB962C8B-B14F-4D97-AF65-F5344CB8AC3E}">
        <p14:creationId xmlns:p14="http://schemas.microsoft.com/office/powerpoint/2010/main" val="1225045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C07ED-0E8F-3341-BD66-CC6F287C0B94}"/>
              </a:ext>
            </a:extLst>
          </p:cNvPr>
          <p:cNvSpPr>
            <a:spLocks noGrp="1"/>
          </p:cNvSpPr>
          <p:nvPr>
            <p:ph type="title"/>
          </p:nvPr>
        </p:nvSpPr>
        <p:spPr/>
        <p:txBody>
          <a:bodyPr/>
          <a:lstStyle/>
          <a:p>
            <a:r>
              <a:rPr lang="en-US" dirty="0"/>
              <a:t>Typical flow for a Linux AI/ML Application</a:t>
            </a:r>
          </a:p>
        </p:txBody>
      </p:sp>
      <p:pic>
        <p:nvPicPr>
          <p:cNvPr id="17" name="Picture 16">
            <a:extLst>
              <a:ext uri="{FF2B5EF4-FFF2-40B4-BE49-F238E27FC236}">
                <a16:creationId xmlns:a16="http://schemas.microsoft.com/office/drawing/2014/main" id="{5F5F6F63-195E-C836-3CD4-5CA840F4C0F2}"/>
              </a:ext>
            </a:extLst>
          </p:cNvPr>
          <p:cNvPicPr>
            <a:picLocks noChangeAspect="1"/>
          </p:cNvPicPr>
          <p:nvPr/>
        </p:nvPicPr>
        <p:blipFill>
          <a:blip r:embed="rId2"/>
          <a:stretch>
            <a:fillRect/>
          </a:stretch>
        </p:blipFill>
        <p:spPr>
          <a:xfrm>
            <a:off x="566657" y="1511943"/>
            <a:ext cx="11449050" cy="4343400"/>
          </a:xfrm>
          <a:prstGeom prst="rect">
            <a:avLst/>
          </a:prstGeom>
        </p:spPr>
      </p:pic>
    </p:spTree>
    <p:extLst>
      <p:ext uri="{BB962C8B-B14F-4D97-AF65-F5344CB8AC3E}">
        <p14:creationId xmlns:p14="http://schemas.microsoft.com/office/powerpoint/2010/main" val="2441716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Microchip MPU Software Support</a:t>
            </a:r>
          </a:p>
        </p:txBody>
      </p:sp>
      <p:sp>
        <p:nvSpPr>
          <p:cNvPr id="4" name="Content Placeholder 3"/>
          <p:cNvSpPr>
            <a:spLocks noGrp="1"/>
          </p:cNvSpPr>
          <p:nvPr>
            <p:ph sz="quarter" idx="15"/>
          </p:nvPr>
        </p:nvSpPr>
        <p:spPr>
          <a:xfrm>
            <a:off x="432656" y="873535"/>
            <a:ext cx="11400660" cy="4905184"/>
          </a:xfrm>
        </p:spPr>
        <p:txBody>
          <a:bodyPr>
            <a:normAutofit/>
          </a:bodyPr>
          <a:lstStyle/>
          <a:p>
            <a:r>
              <a:rPr lang="en-US" sz="2799" dirty="0"/>
              <a:t>Bare-Metal/RTOS via MPLAB®X and MPLAB® Harmony​</a:t>
            </a:r>
          </a:p>
          <a:p>
            <a:pPr lvl="1"/>
            <a:r>
              <a:rPr lang="en-US" sz="2399" dirty="0"/>
              <a:t>Single toolchain to easily migrate between MCU and MPU​</a:t>
            </a:r>
          </a:p>
          <a:p>
            <a:pPr lvl="1"/>
            <a:r>
              <a:rPr lang="en-US" sz="2400" dirty="0"/>
              <a:t>Integrated support for FreeRTOS™ and Azure IoT</a:t>
            </a:r>
          </a:p>
          <a:p>
            <a:pPr marL="0" indent="0">
              <a:buNone/>
            </a:pPr>
            <a:endParaRPr lang="en-US" sz="2400" dirty="0"/>
          </a:p>
        </p:txBody>
      </p:sp>
      <p:pic>
        <p:nvPicPr>
          <p:cNvPr id="1029" name="Picture 5">
            <a:extLst>
              <a:ext uri="{FF2B5EF4-FFF2-40B4-BE49-F238E27FC236}">
                <a16:creationId xmlns:a16="http://schemas.microsoft.com/office/drawing/2014/main" id="{7892FD50-565E-0069-1954-BD8BCD2510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686" y="5325877"/>
            <a:ext cx="9996532" cy="1260308"/>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a:extLst>
              <a:ext uri="{FF2B5EF4-FFF2-40B4-BE49-F238E27FC236}">
                <a16:creationId xmlns:a16="http://schemas.microsoft.com/office/drawing/2014/main" id="{EC07023C-6EA9-AD12-88F3-02F7ED35290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63" t="1907" r="3193" b="16980"/>
          <a:stretch/>
        </p:blipFill>
        <p:spPr bwMode="auto">
          <a:xfrm>
            <a:off x="2940984" y="2487876"/>
            <a:ext cx="5132041" cy="277521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64B1D047-A420-8BC1-0557-3D629E2632A5}"/>
              </a:ext>
            </a:extLst>
          </p:cNvPr>
          <p:cNvSpPr>
            <a:spLocks noGrp="1"/>
          </p:cNvSpPr>
          <p:nvPr>
            <p:ph type="sldNum" sz="quarter" idx="4"/>
          </p:nvPr>
        </p:nvSpPr>
        <p:spPr/>
        <p:txBody>
          <a:bodyPr/>
          <a:lstStyle/>
          <a:p>
            <a:fld id="{4081AA82-C1C2-924B-B843-6C0FB13ED72E}" type="slidenum">
              <a:rPr lang="en-US" smtClean="0"/>
              <a:t>8</a:t>
            </a:fld>
            <a:endParaRPr lang="en-US" dirty="0"/>
          </a:p>
        </p:txBody>
      </p:sp>
    </p:spTree>
    <p:extLst>
      <p:ext uri="{BB962C8B-B14F-4D97-AF65-F5344CB8AC3E}">
        <p14:creationId xmlns:p14="http://schemas.microsoft.com/office/powerpoint/2010/main" val="3313162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EDD60-A0C8-F7F5-25D9-106B17C83D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11CFA-5497-2C1B-8736-3ADA9F4FF9AE}"/>
              </a:ext>
            </a:extLst>
          </p:cNvPr>
          <p:cNvSpPr>
            <a:spLocks noGrp="1"/>
          </p:cNvSpPr>
          <p:nvPr>
            <p:ph type="title"/>
          </p:nvPr>
        </p:nvSpPr>
        <p:spPr>
          <a:xfrm>
            <a:off x="211608" y="96296"/>
            <a:ext cx="11765607" cy="777240"/>
          </a:xfrm>
        </p:spPr>
        <p:txBody>
          <a:bodyPr/>
          <a:lstStyle/>
          <a:p>
            <a:r>
              <a:rPr lang="en-US"/>
              <a:t>Typical flow for a MPLAB Harmony v3 Application</a:t>
            </a:r>
            <a:endParaRPr lang="en-US" dirty="0"/>
          </a:p>
        </p:txBody>
      </p:sp>
      <p:pic>
        <p:nvPicPr>
          <p:cNvPr id="11" name="Picture 10">
            <a:extLst>
              <a:ext uri="{FF2B5EF4-FFF2-40B4-BE49-F238E27FC236}">
                <a16:creationId xmlns:a16="http://schemas.microsoft.com/office/drawing/2014/main" id="{ADE6E3C8-D66B-5715-A5F2-6FEE2D84E704}"/>
              </a:ext>
            </a:extLst>
          </p:cNvPr>
          <p:cNvPicPr>
            <a:picLocks noChangeAspect="1"/>
          </p:cNvPicPr>
          <p:nvPr/>
        </p:nvPicPr>
        <p:blipFill>
          <a:blip r:embed="rId3"/>
          <a:stretch>
            <a:fillRect/>
          </a:stretch>
        </p:blipFill>
        <p:spPr>
          <a:xfrm>
            <a:off x="983849" y="1308954"/>
            <a:ext cx="10415755" cy="4749377"/>
          </a:xfrm>
          <a:prstGeom prst="rect">
            <a:avLst/>
          </a:prstGeom>
        </p:spPr>
      </p:pic>
    </p:spTree>
    <p:extLst>
      <p:ext uri="{BB962C8B-B14F-4D97-AF65-F5344CB8AC3E}">
        <p14:creationId xmlns:p14="http://schemas.microsoft.com/office/powerpoint/2010/main" val="4054397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97AEA-6E93-7D4F-9600-7C96C65EB3B5}"/>
              </a:ext>
            </a:extLst>
          </p:cNvPr>
          <p:cNvSpPr>
            <a:spLocks noGrp="1"/>
          </p:cNvSpPr>
          <p:nvPr>
            <p:ph type="title"/>
          </p:nvPr>
        </p:nvSpPr>
        <p:spPr/>
        <p:txBody>
          <a:bodyPr/>
          <a:lstStyle/>
          <a:p>
            <a:r>
              <a:rPr lang="en-US" dirty="0"/>
              <a:t>Bring Your Own Model</a:t>
            </a:r>
          </a:p>
        </p:txBody>
      </p:sp>
      <p:sp>
        <p:nvSpPr>
          <p:cNvPr id="3" name="Text Placeholder 2">
            <a:extLst>
              <a:ext uri="{FF2B5EF4-FFF2-40B4-BE49-F238E27FC236}">
                <a16:creationId xmlns:a16="http://schemas.microsoft.com/office/drawing/2014/main" id="{15257F6A-C154-094D-A1C7-2B2ACD7E7D89}"/>
              </a:ext>
            </a:extLst>
          </p:cNvPr>
          <p:cNvSpPr>
            <a:spLocks noGrp="1"/>
          </p:cNvSpPr>
          <p:nvPr>
            <p:ph type="body" idx="1"/>
          </p:nvPr>
        </p:nvSpPr>
        <p:spPr/>
        <p:txBody>
          <a:bodyPr/>
          <a:lstStyle/>
          <a:p>
            <a:r>
              <a:rPr lang="en-US"/>
              <a:t>Harmony 3.x TensorFlow Lite Plugin</a:t>
            </a:r>
          </a:p>
        </p:txBody>
      </p:sp>
      <p:grpSp>
        <p:nvGrpSpPr>
          <p:cNvPr id="4" name="object 6">
            <a:extLst>
              <a:ext uri="{FF2B5EF4-FFF2-40B4-BE49-F238E27FC236}">
                <a16:creationId xmlns:a16="http://schemas.microsoft.com/office/drawing/2014/main" id="{2388B272-8106-4FB5-AB75-1131DDB4AF52}"/>
              </a:ext>
            </a:extLst>
          </p:cNvPr>
          <p:cNvGrpSpPr/>
          <p:nvPr/>
        </p:nvGrpSpPr>
        <p:grpSpPr>
          <a:xfrm>
            <a:off x="8496035" y="4333613"/>
            <a:ext cx="2819098" cy="1967305"/>
            <a:chOff x="5008313" y="1664233"/>
            <a:chExt cx="2592705" cy="1853564"/>
          </a:xfrm>
        </p:grpSpPr>
        <p:pic>
          <p:nvPicPr>
            <p:cNvPr id="5" name="object 7">
              <a:extLst>
                <a:ext uri="{FF2B5EF4-FFF2-40B4-BE49-F238E27FC236}">
                  <a16:creationId xmlns:a16="http://schemas.microsoft.com/office/drawing/2014/main" id="{A6A8D65B-F9E0-4E4E-917F-62A1EC751BED}"/>
                </a:ext>
              </a:extLst>
            </p:cNvPr>
            <p:cNvPicPr/>
            <p:nvPr/>
          </p:nvPicPr>
          <p:blipFill>
            <a:blip r:embed="rId3" cstate="email">
              <a:extLst>
                <a:ext uri="{28A0092B-C50C-407E-A947-70E740481C1C}">
                  <a14:useLocalDpi xmlns:a14="http://schemas.microsoft.com/office/drawing/2010/main"/>
                </a:ext>
              </a:extLst>
            </a:blip>
            <a:stretch>
              <a:fillRect/>
            </a:stretch>
          </p:blipFill>
          <p:spPr>
            <a:xfrm>
              <a:off x="5008313" y="1664233"/>
              <a:ext cx="2592600" cy="1853100"/>
            </a:xfrm>
            <a:prstGeom prst="rect">
              <a:avLst/>
            </a:prstGeom>
          </p:spPr>
        </p:pic>
        <p:sp>
          <p:nvSpPr>
            <p:cNvPr id="6" name="object 8">
              <a:extLst>
                <a:ext uri="{FF2B5EF4-FFF2-40B4-BE49-F238E27FC236}">
                  <a16:creationId xmlns:a16="http://schemas.microsoft.com/office/drawing/2014/main" id="{FCECAC04-B30E-4D8F-93D7-0862B9E0788D}"/>
                </a:ext>
              </a:extLst>
            </p:cNvPr>
            <p:cNvSpPr/>
            <p:nvPr/>
          </p:nvSpPr>
          <p:spPr>
            <a:xfrm>
              <a:off x="5065463" y="1702333"/>
              <a:ext cx="2478405" cy="1739264"/>
            </a:xfrm>
            <a:custGeom>
              <a:avLst/>
              <a:gdLst/>
              <a:ahLst/>
              <a:cxnLst/>
              <a:rect l="l" t="t" r="r" b="b"/>
              <a:pathLst>
                <a:path w="2478404" h="1739264">
                  <a:moveTo>
                    <a:pt x="2478299" y="1738799"/>
                  </a:moveTo>
                  <a:lnTo>
                    <a:pt x="0" y="1738799"/>
                  </a:lnTo>
                  <a:lnTo>
                    <a:pt x="0" y="0"/>
                  </a:lnTo>
                  <a:lnTo>
                    <a:pt x="2478299" y="0"/>
                  </a:lnTo>
                  <a:lnTo>
                    <a:pt x="2478299" y="1738799"/>
                  </a:lnTo>
                  <a:close/>
                </a:path>
              </a:pathLst>
            </a:custGeom>
            <a:solidFill>
              <a:srgbClr val="F7F9FA"/>
            </a:solidFill>
          </p:spPr>
          <p:txBody>
            <a:bodyPr wrap="square" lIns="0" tIns="0" rIns="0" bIns="0" rtlCol="0"/>
            <a:lstStyle/>
            <a:p>
              <a:endParaRPr sz="3199"/>
            </a:p>
          </p:txBody>
        </p:sp>
        <p:pic>
          <p:nvPicPr>
            <p:cNvPr id="7" name="object 9">
              <a:extLst>
                <a:ext uri="{FF2B5EF4-FFF2-40B4-BE49-F238E27FC236}">
                  <a16:creationId xmlns:a16="http://schemas.microsoft.com/office/drawing/2014/main" id="{964BDA0F-009E-4270-8E16-3AC068986CFE}"/>
                </a:ext>
              </a:extLst>
            </p:cNvPr>
            <p:cNvPicPr/>
            <p:nvPr/>
          </p:nvPicPr>
          <p:blipFill>
            <a:blip r:embed="rId4" cstate="email">
              <a:extLst>
                <a:ext uri="{28A0092B-C50C-407E-A947-70E740481C1C}">
                  <a14:useLocalDpi xmlns:a14="http://schemas.microsoft.com/office/drawing/2010/main"/>
                </a:ext>
              </a:extLst>
            </a:blip>
            <a:stretch>
              <a:fillRect/>
            </a:stretch>
          </p:blipFill>
          <p:spPr>
            <a:xfrm>
              <a:off x="5174248" y="2041934"/>
              <a:ext cx="2260806" cy="1059815"/>
            </a:xfrm>
            <a:prstGeom prst="rect">
              <a:avLst/>
            </a:prstGeom>
          </p:spPr>
        </p:pic>
      </p:grpSp>
    </p:spTree>
    <p:extLst>
      <p:ext uri="{BB962C8B-B14F-4D97-AF65-F5344CB8AC3E}">
        <p14:creationId xmlns:p14="http://schemas.microsoft.com/office/powerpoint/2010/main" val="4196754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38C02-24FF-48E5-934E-F9A6C0C36D95}"/>
              </a:ext>
            </a:extLst>
          </p:cNvPr>
          <p:cNvSpPr>
            <a:spLocks noGrp="1"/>
          </p:cNvSpPr>
          <p:nvPr>
            <p:ph type="title"/>
          </p:nvPr>
        </p:nvSpPr>
        <p:spPr/>
        <p:txBody>
          <a:bodyPr/>
          <a:lstStyle/>
          <a:p>
            <a:r>
              <a:rPr lang="en-US" dirty="0"/>
              <a:t>What is TensorFlow Lite for Microcontrollers?</a:t>
            </a:r>
          </a:p>
        </p:txBody>
      </p:sp>
      <p:pic>
        <p:nvPicPr>
          <p:cNvPr id="3074" name="Picture 2" descr="TensorFlow Lite | ML for Mobile and Edge Devices">
            <a:extLst>
              <a:ext uri="{FF2B5EF4-FFF2-40B4-BE49-F238E27FC236}">
                <a16:creationId xmlns:a16="http://schemas.microsoft.com/office/drawing/2014/main" id="{F1C2A4E9-145A-4433-B916-16F197AB2A5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939238" y="2167555"/>
            <a:ext cx="2159198" cy="1209151"/>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DD335C74-238B-4152-8CC7-AE8E7AFA31DC}"/>
              </a:ext>
            </a:extLst>
          </p:cNvPr>
          <p:cNvSpPr txBox="1">
            <a:spLocks/>
          </p:cNvSpPr>
          <p:nvPr/>
        </p:nvSpPr>
        <p:spPr>
          <a:xfrm>
            <a:off x="355509" y="775766"/>
            <a:ext cx="11400661" cy="428625"/>
          </a:xfrm>
          <a:prstGeom prst="rect">
            <a:avLst/>
          </a:prstGeom>
        </p:spPr>
        <p:txBody>
          <a:bodyPr vert="horz" lIns="121888" tIns="60944" rIns="121888" bIns="60944" rtlCol="0">
            <a:noAutofit/>
          </a:bodyPr>
          <a:lstStyle>
            <a:lvl1pPr marL="274201" indent="-274201"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endParaRPr lang="en-US" sz="2800">
              <a:solidFill>
                <a:schemeClr val="bg2"/>
              </a:solidFill>
            </a:endParaRPr>
          </a:p>
        </p:txBody>
      </p:sp>
      <p:sp>
        <p:nvSpPr>
          <p:cNvPr id="18" name="Content Placeholder 2">
            <a:extLst>
              <a:ext uri="{FF2B5EF4-FFF2-40B4-BE49-F238E27FC236}">
                <a16:creationId xmlns:a16="http://schemas.microsoft.com/office/drawing/2014/main" id="{B490C1F2-43A8-4240-AFD8-3020CA51ACDF}"/>
              </a:ext>
            </a:extLst>
          </p:cNvPr>
          <p:cNvSpPr>
            <a:spLocks noGrp="1"/>
          </p:cNvSpPr>
          <p:nvPr>
            <p:ph sz="quarter" idx="13"/>
          </p:nvPr>
        </p:nvSpPr>
        <p:spPr>
          <a:xfrm>
            <a:off x="90389" y="1034645"/>
            <a:ext cx="11215000" cy="5211317"/>
          </a:xfrm>
        </p:spPr>
        <p:txBody>
          <a:bodyPr>
            <a:normAutofit/>
          </a:bodyPr>
          <a:lstStyle/>
          <a:p>
            <a:pPr>
              <a:buFont typeface="Wingdings" pitchFamily="2" charset="2"/>
              <a:buChar char="§"/>
            </a:pPr>
            <a:r>
              <a:rPr lang="en-US" sz="2800" dirty="0"/>
              <a:t>TensorFlow Lite is an open-source, production ready, cross-platform framework for deploying ML on mobile devices and embedded systems</a:t>
            </a:r>
          </a:p>
          <a:p>
            <a:pPr lvl="1">
              <a:buFont typeface="Wingdings" pitchFamily="2" charset="2"/>
              <a:buChar char="§"/>
            </a:pPr>
            <a:r>
              <a:rPr lang="en-US" sz="2400" dirty="0"/>
              <a:t>Compatible with the TensorFlow training environment </a:t>
            </a:r>
          </a:p>
          <a:p>
            <a:pPr lvl="1">
              <a:buFont typeface="Wingdings" pitchFamily="2" charset="2"/>
              <a:buChar char="§"/>
            </a:pPr>
            <a:r>
              <a:rPr lang="en-US" sz="2400" dirty="0"/>
              <a:t>Designed to run Google ML models on microcontrollers</a:t>
            </a:r>
          </a:p>
          <a:p>
            <a:pPr lvl="1">
              <a:buFont typeface="Wingdings" pitchFamily="2" charset="2"/>
              <a:buChar char="§"/>
            </a:pPr>
            <a:endParaRPr lang="en-US" dirty="0"/>
          </a:p>
          <a:p>
            <a:pPr>
              <a:buFont typeface="Wingdings" pitchFamily="2" charset="2"/>
              <a:buChar char="§"/>
            </a:pPr>
            <a:r>
              <a:rPr lang="en-US" sz="2800" dirty="0"/>
              <a:t>Built to fit on embedded systems</a:t>
            </a:r>
          </a:p>
          <a:p>
            <a:pPr lvl="1">
              <a:buFont typeface="Wingdings" pitchFamily="2" charset="2"/>
              <a:buChar char="§"/>
            </a:pPr>
            <a:r>
              <a:rPr lang="en-US" sz="2400" dirty="0"/>
              <a:t>Designed for 32B platform, including MPUs</a:t>
            </a:r>
          </a:p>
          <a:p>
            <a:pPr lvl="1">
              <a:buFont typeface="Wingdings" pitchFamily="2" charset="2"/>
              <a:buChar char="§"/>
            </a:pPr>
            <a:r>
              <a:rPr lang="en-US" sz="2400" dirty="0"/>
              <a:t>Small binary footprint </a:t>
            </a:r>
          </a:p>
          <a:p>
            <a:pPr lvl="1">
              <a:buFont typeface="Wingdings" pitchFamily="2" charset="2"/>
              <a:buChar char="§"/>
            </a:pPr>
            <a:r>
              <a:rPr lang="en-US" sz="2400" dirty="0"/>
              <a:t>Output are C++ files</a:t>
            </a:r>
          </a:p>
          <a:p>
            <a:pPr lvl="1">
              <a:buFont typeface="Wingdings" pitchFamily="2" charset="2"/>
              <a:buChar char="§"/>
            </a:pPr>
            <a:r>
              <a:rPr lang="en-US" sz="2400" dirty="0"/>
              <a:t>No operating system dependencies, can run on bare metal</a:t>
            </a:r>
          </a:p>
          <a:p>
            <a:pPr lvl="1">
              <a:buFont typeface="Wingdings" pitchFamily="2" charset="2"/>
              <a:buChar char="§"/>
            </a:pPr>
            <a:r>
              <a:rPr lang="en-US" sz="2400" dirty="0"/>
              <a:t>Designed to be portable across a wide variety of systems</a:t>
            </a:r>
          </a:p>
          <a:p>
            <a:endParaRPr lang="en-US" sz="2800" dirty="0"/>
          </a:p>
        </p:txBody>
      </p:sp>
      <p:sp>
        <p:nvSpPr>
          <p:cNvPr id="69" name="object 17">
            <a:extLst>
              <a:ext uri="{FF2B5EF4-FFF2-40B4-BE49-F238E27FC236}">
                <a16:creationId xmlns:a16="http://schemas.microsoft.com/office/drawing/2014/main" id="{926C6A4D-B65B-4DA4-8C6F-2BB88CEAE5CA}"/>
              </a:ext>
            </a:extLst>
          </p:cNvPr>
          <p:cNvSpPr txBox="1"/>
          <p:nvPr/>
        </p:nvSpPr>
        <p:spPr>
          <a:xfrm>
            <a:off x="9502003" y="2598003"/>
            <a:ext cx="2366922" cy="830997"/>
          </a:xfrm>
          <a:prstGeom prst="rect">
            <a:avLst/>
          </a:prstGeom>
        </p:spPr>
        <p:txBody>
          <a:bodyPr vert="horz" wrap="square" lIns="0" tIns="0" rIns="0" bIns="0" rtlCol="0">
            <a:spAutoFit/>
          </a:bodyPr>
          <a:lstStyle/>
          <a:p>
            <a:pPr>
              <a:lnSpc>
                <a:spcPct val="100000"/>
              </a:lnSpc>
            </a:pPr>
            <a:endParaRPr sz="2000">
              <a:latin typeface="Times New Roman"/>
              <a:cs typeface="Times New Roman"/>
            </a:endParaRPr>
          </a:p>
          <a:p>
            <a:pPr>
              <a:spcBef>
                <a:spcPts val="13"/>
              </a:spcBef>
            </a:pPr>
            <a:endParaRPr sz="1600" b="1">
              <a:latin typeface="Times New Roman"/>
              <a:cs typeface="Times New Roman"/>
            </a:endParaRPr>
          </a:p>
          <a:p>
            <a:pPr marL="1337399"/>
            <a:r>
              <a:rPr sz="1800" spc="7">
                <a:solidFill>
                  <a:srgbClr val="535F68"/>
                </a:solidFill>
                <a:latin typeface="Gill Sans MT"/>
                <a:cs typeface="Gill Sans MT"/>
              </a:rPr>
              <a:t>Micro</a:t>
            </a:r>
            <a:endParaRPr sz="1800">
              <a:latin typeface="Gill Sans MT"/>
              <a:cs typeface="Gill Sans MT"/>
            </a:endParaRPr>
          </a:p>
        </p:txBody>
      </p:sp>
    </p:spTree>
    <p:extLst>
      <p:ext uri="{BB962C8B-B14F-4D97-AF65-F5344CB8AC3E}">
        <p14:creationId xmlns:p14="http://schemas.microsoft.com/office/powerpoint/2010/main" val="12516032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933F-42F7-4E74-8CBF-2A48C90B9810}"/>
              </a:ext>
            </a:extLst>
          </p:cNvPr>
          <p:cNvSpPr>
            <a:spLocks noGrp="1"/>
          </p:cNvSpPr>
          <p:nvPr>
            <p:ph type="title"/>
          </p:nvPr>
        </p:nvSpPr>
        <p:spPr/>
        <p:txBody>
          <a:bodyPr/>
          <a:lstStyle/>
          <a:p>
            <a:r>
              <a:rPr lang="en-US" sz="3600" dirty="0"/>
              <a:t>Harmony 3 Examples - v1.0.0 Release</a:t>
            </a:r>
          </a:p>
        </p:txBody>
      </p:sp>
      <p:graphicFrame>
        <p:nvGraphicFramePr>
          <p:cNvPr id="11" name="Table 10">
            <a:extLst>
              <a:ext uri="{FF2B5EF4-FFF2-40B4-BE49-F238E27FC236}">
                <a16:creationId xmlns:a16="http://schemas.microsoft.com/office/drawing/2014/main" id="{B01C4D53-043F-446C-8555-2983630EEC25}"/>
              </a:ext>
            </a:extLst>
          </p:cNvPr>
          <p:cNvGraphicFramePr>
            <a:graphicFrameLocks noGrp="1"/>
          </p:cNvGraphicFramePr>
          <p:nvPr/>
        </p:nvGraphicFramePr>
        <p:xfrm>
          <a:off x="4324984" y="3441901"/>
          <a:ext cx="7260909" cy="2927350"/>
        </p:xfrm>
        <a:graphic>
          <a:graphicData uri="http://schemas.openxmlformats.org/drawingml/2006/table">
            <a:tbl>
              <a:tblPr/>
              <a:tblGrid>
                <a:gridCol w="487641">
                  <a:extLst>
                    <a:ext uri="{9D8B030D-6E8A-4147-A177-3AD203B41FA5}">
                      <a16:colId xmlns:a16="http://schemas.microsoft.com/office/drawing/2014/main" val="3630104037"/>
                    </a:ext>
                  </a:extLst>
                </a:gridCol>
                <a:gridCol w="1030371">
                  <a:extLst>
                    <a:ext uri="{9D8B030D-6E8A-4147-A177-3AD203B41FA5}">
                      <a16:colId xmlns:a16="http://schemas.microsoft.com/office/drawing/2014/main" val="473433557"/>
                    </a:ext>
                  </a:extLst>
                </a:gridCol>
                <a:gridCol w="3338084">
                  <a:extLst>
                    <a:ext uri="{9D8B030D-6E8A-4147-A177-3AD203B41FA5}">
                      <a16:colId xmlns:a16="http://schemas.microsoft.com/office/drawing/2014/main" val="2553296101"/>
                    </a:ext>
                  </a:extLst>
                </a:gridCol>
                <a:gridCol w="529652">
                  <a:extLst>
                    <a:ext uri="{9D8B030D-6E8A-4147-A177-3AD203B41FA5}">
                      <a16:colId xmlns:a16="http://schemas.microsoft.com/office/drawing/2014/main" val="2761547414"/>
                    </a:ext>
                  </a:extLst>
                </a:gridCol>
                <a:gridCol w="488323">
                  <a:extLst>
                    <a:ext uri="{9D8B030D-6E8A-4147-A177-3AD203B41FA5}">
                      <a16:colId xmlns:a16="http://schemas.microsoft.com/office/drawing/2014/main" val="3523314606"/>
                    </a:ext>
                  </a:extLst>
                </a:gridCol>
                <a:gridCol w="566455">
                  <a:extLst>
                    <a:ext uri="{9D8B030D-6E8A-4147-A177-3AD203B41FA5}">
                      <a16:colId xmlns:a16="http://schemas.microsoft.com/office/drawing/2014/main" val="243718821"/>
                    </a:ext>
                  </a:extLst>
                </a:gridCol>
                <a:gridCol w="820383">
                  <a:extLst>
                    <a:ext uri="{9D8B030D-6E8A-4147-A177-3AD203B41FA5}">
                      <a16:colId xmlns:a16="http://schemas.microsoft.com/office/drawing/2014/main" val="460319004"/>
                    </a:ext>
                  </a:extLst>
                </a:gridCol>
              </a:tblGrid>
              <a:tr h="288406">
                <a:tc>
                  <a:txBody>
                    <a:bodyPr/>
                    <a:lstStyle/>
                    <a:p>
                      <a:pPr algn="ctr" rtl="0" fontAlgn="ctr"/>
                      <a:r>
                        <a:rPr lang="en-US" sz="1400" b="1" i="0" u="none" strike="noStrike">
                          <a:solidFill>
                            <a:srgbClr val="0A0B0F"/>
                          </a:solidFill>
                          <a:effectLst/>
                          <a:latin typeface="Calibri" panose="020F050202020403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a:solidFill>
                            <a:srgbClr val="0A0B0F"/>
                          </a:solidFill>
                          <a:effectLst/>
                          <a:latin typeface="Calibri" panose="020F0502020204030204" pitchFamily="34" charset="0"/>
                        </a:rPr>
                        <a:t>Example</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dirty="0">
                          <a:solidFill>
                            <a:srgbClr val="0A0B0F"/>
                          </a:solidFill>
                          <a:effectLst/>
                          <a:latin typeface="Calibri" panose="020F0502020204030204" pitchFamily="34" charset="0"/>
                        </a:rPr>
                        <a:t>Description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a:noFill/>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a:solidFill>
                            <a:srgbClr val="0A0B0F"/>
                          </a:solidFill>
                          <a:effectLst/>
                          <a:latin typeface="Calibri" panose="020F0502020204030204" pitchFamily="34" charset="0"/>
                        </a:rPr>
                        <a:t>SAM E70</a:t>
                      </a:r>
                      <a:br>
                        <a:rPr lang="en-US" sz="1200" b="1" i="0" u="none" strike="noStrike">
                          <a:solidFill>
                            <a:srgbClr val="0A0B0F"/>
                          </a:solidFill>
                          <a:effectLst/>
                          <a:latin typeface="Calibri" panose="020F0502020204030204" pitchFamily="34" charset="0"/>
                        </a:rPr>
                      </a:br>
                      <a:r>
                        <a:rPr lang="en-US" sz="1200" b="1" i="0" u="none" strike="noStrike">
                          <a:solidFill>
                            <a:srgbClr val="0A0B0F"/>
                          </a:solidFill>
                          <a:effectLst/>
                          <a:latin typeface="Calibri" panose="020F0502020204030204" pitchFamily="34" charset="0"/>
                        </a:rPr>
                        <a:t>XULT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dirty="0">
                          <a:solidFill>
                            <a:srgbClr val="0A0B0F"/>
                          </a:solidFill>
                          <a:effectLst/>
                          <a:latin typeface="Calibri" panose="020F0502020204030204" pitchFamily="34" charset="0"/>
                        </a:rPr>
                        <a:t>SAM E51</a:t>
                      </a:r>
                      <a:br>
                        <a:rPr lang="en-US" sz="1200" b="1" i="0" u="none" strike="noStrike" dirty="0">
                          <a:solidFill>
                            <a:srgbClr val="0A0B0F"/>
                          </a:solidFill>
                          <a:effectLst/>
                          <a:latin typeface="Calibri" panose="020F0502020204030204" pitchFamily="34" charset="0"/>
                        </a:rPr>
                      </a:br>
                      <a:r>
                        <a:rPr lang="en-US" sz="1200" b="1" i="0" u="none" strike="noStrike" dirty="0" err="1">
                          <a:solidFill>
                            <a:srgbClr val="0A0B0F"/>
                          </a:solidFill>
                          <a:effectLst/>
                          <a:latin typeface="Calibri" panose="020F0502020204030204" pitchFamily="34" charset="0"/>
                        </a:rPr>
                        <a:t>IGaT</a:t>
                      </a:r>
                      <a:endParaRPr lang="en-US" sz="1200" b="1" i="0" u="none" strike="noStrike" dirty="0">
                        <a:solidFill>
                          <a:srgbClr val="0A0B0F"/>
                        </a:solidFill>
                        <a:effectLst/>
                        <a:latin typeface="Calibri" panose="020F0502020204030204" pitchFamily="34" charset="0"/>
                      </a:endParaRP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a:solidFill>
                            <a:srgbClr val="0A0B0F"/>
                          </a:solidFill>
                          <a:effectLst/>
                          <a:latin typeface="Calibri" panose="020F0502020204030204" pitchFamily="34" charset="0"/>
                        </a:rPr>
                        <a:t>SAM E54</a:t>
                      </a:r>
                      <a:br>
                        <a:rPr lang="en-US" sz="1200" b="1" i="0" u="none" strike="noStrike">
                          <a:solidFill>
                            <a:srgbClr val="0A0B0F"/>
                          </a:solidFill>
                          <a:effectLst/>
                          <a:latin typeface="Calibri" panose="020F0502020204030204" pitchFamily="34" charset="0"/>
                        </a:rPr>
                      </a:br>
                      <a:r>
                        <a:rPr lang="en-US" sz="1200" b="1" i="0" u="none" strike="noStrike">
                          <a:solidFill>
                            <a:srgbClr val="0A0B0F"/>
                          </a:solidFill>
                          <a:effectLst/>
                          <a:latin typeface="Calibri" panose="020F0502020204030204" pitchFamily="34" charset="0"/>
                        </a:rPr>
                        <a:t>CULT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200" b="1" i="0" u="none" strike="noStrike">
                          <a:solidFill>
                            <a:srgbClr val="0A0B0F"/>
                          </a:solidFill>
                          <a:effectLst/>
                          <a:latin typeface="Calibri" panose="020F0502020204030204" pitchFamily="34" charset="0"/>
                        </a:rPr>
                        <a:t>SAM A5D2</a:t>
                      </a:r>
                      <a:br>
                        <a:rPr lang="en-US" sz="1200" b="1" i="0" u="none" strike="noStrike">
                          <a:solidFill>
                            <a:srgbClr val="0A0B0F"/>
                          </a:solidFill>
                          <a:effectLst/>
                          <a:latin typeface="Calibri" panose="020F0502020204030204" pitchFamily="34" charset="0"/>
                        </a:rPr>
                      </a:br>
                      <a:r>
                        <a:rPr lang="en-US" sz="1200" b="1" i="0" u="none" strike="noStrike">
                          <a:solidFill>
                            <a:srgbClr val="0A0B0F"/>
                          </a:solidFill>
                          <a:effectLst/>
                          <a:latin typeface="Calibri" panose="020F0502020204030204" pitchFamily="34" charset="0"/>
                        </a:rPr>
                        <a:t>XULT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5B5"/>
                    </a:solidFill>
                  </a:tcPr>
                </a:tc>
                <a:extLst>
                  <a:ext uri="{0D108BD9-81ED-4DB2-BD59-A6C34878D82A}">
                    <a16:rowId xmlns:a16="http://schemas.microsoft.com/office/drawing/2014/main" val="3495085079"/>
                  </a:ext>
                </a:extLst>
              </a:tr>
              <a:tr h="423205">
                <a:tc>
                  <a:txBody>
                    <a:bodyPr/>
                    <a:lstStyle/>
                    <a:p>
                      <a:pPr algn="ctr" rtl="0" fontAlgn="ctr"/>
                      <a:r>
                        <a:rPr lang="en-US" sz="1400" b="0" i="0" u="none" strike="noStrike">
                          <a:solidFill>
                            <a:srgbClr val="000000"/>
                          </a:solidFill>
                          <a:effectLst/>
                          <a:latin typeface="Calibri" panose="020F0502020204030204" pitchFamily="34" charset="0"/>
                        </a:rPr>
                        <a:t>1</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400" b="0" i="0" u="none" strike="noStrike">
                          <a:solidFill>
                            <a:srgbClr val="000000"/>
                          </a:solidFill>
                          <a:effectLst/>
                          <a:latin typeface="Calibri" panose="020F0502020204030204" pitchFamily="34" charset="0"/>
                        </a:rPr>
                        <a:t>Hello World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l" rtl="0" fontAlgn="ctr"/>
                      <a:r>
                        <a:rPr lang="en-US" sz="1400" b="0" i="0" u="none" strike="noStrike">
                          <a:solidFill>
                            <a:srgbClr val="000000"/>
                          </a:solidFill>
                          <a:effectLst/>
                          <a:latin typeface="Calibri" panose="020F0502020204030204" pitchFamily="34" charset="0"/>
                        </a:rPr>
                        <a:t>This example demonstrates end to end workflow of creating and deploying model to predict sin function output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311748063"/>
                  </a:ext>
                </a:extLst>
              </a:tr>
              <a:tr h="283522">
                <a:tc>
                  <a:txBody>
                    <a:bodyPr/>
                    <a:lstStyle/>
                    <a:p>
                      <a:pPr algn="ctr" rtl="0" fontAlgn="ctr"/>
                      <a:r>
                        <a:rPr lang="en-US" sz="1400" b="0" i="0" u="none" strike="noStrike">
                          <a:solidFill>
                            <a:srgbClr val="000000"/>
                          </a:solidFill>
                          <a:effectLst/>
                          <a:latin typeface="Calibri" panose="020F0502020204030204" pitchFamily="34" charset="0"/>
                        </a:rPr>
                        <a:t>2</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400" b="0" i="0" u="none" strike="noStrike">
                          <a:solidFill>
                            <a:srgbClr val="000000"/>
                          </a:solidFill>
                          <a:effectLst/>
                          <a:latin typeface="Calibri" panose="020F0502020204030204" pitchFamily="34" charset="0"/>
                        </a:rPr>
                        <a:t>Micro Speech</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l" rtl="0" fontAlgn="ctr"/>
                      <a:r>
                        <a:rPr lang="en-US" sz="1400" b="0" i="0" u="none" strike="noStrike">
                          <a:solidFill>
                            <a:srgbClr val="000000"/>
                          </a:solidFill>
                          <a:effectLst/>
                          <a:latin typeface="Calibri" panose="020F0502020204030204" pitchFamily="34" charset="0"/>
                        </a:rPr>
                        <a:t>This example classifies speech input into one of 4 classes ('yes', 'no’, ‘silence’, ‘unknown’)</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2576438719"/>
                  </a:ext>
                </a:extLst>
              </a:tr>
              <a:tr h="283522">
                <a:tc>
                  <a:txBody>
                    <a:bodyPr/>
                    <a:lstStyle/>
                    <a:p>
                      <a:pPr algn="ctr" rtl="0" fontAlgn="ctr"/>
                      <a:r>
                        <a:rPr lang="en-US" sz="1400" b="0" i="0" u="none" strike="noStrike">
                          <a:solidFill>
                            <a:srgbClr val="000000"/>
                          </a:solidFill>
                          <a:effectLst/>
                          <a:latin typeface="Calibri" panose="020F0502020204030204" pitchFamily="34" charset="0"/>
                        </a:rPr>
                        <a:t>3</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400" b="0" i="0" u="none" strike="noStrike">
                          <a:solidFill>
                            <a:srgbClr val="000000"/>
                          </a:solidFill>
                          <a:effectLst/>
                          <a:latin typeface="Calibri" panose="020F0502020204030204" pitchFamily="34" charset="0"/>
                        </a:rPr>
                        <a:t>Handwritten Digit Recognition</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l" rtl="0" fontAlgn="ctr"/>
                      <a:r>
                        <a:rPr lang="en-US" sz="1400" b="0" i="0" u="none" strike="noStrike">
                          <a:solidFill>
                            <a:srgbClr val="000000"/>
                          </a:solidFill>
                          <a:effectLst/>
                          <a:latin typeface="Calibri" panose="020F0502020204030204" pitchFamily="34" charset="0"/>
                        </a:rPr>
                        <a:t>This example classifies handwritten digit into one of 10 classes (0 to 9)</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C6E0B4"/>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0B050"/>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4076061951"/>
                  </a:ext>
                </a:extLst>
              </a:tr>
              <a:tr h="283522">
                <a:tc>
                  <a:txBody>
                    <a:bodyPr/>
                    <a:lstStyle/>
                    <a:p>
                      <a:pPr algn="ctr" rtl="0" fontAlgn="ctr"/>
                      <a:r>
                        <a:rPr lang="en-US" sz="1400" b="0" i="0" u="none" strike="noStrike">
                          <a:solidFill>
                            <a:srgbClr val="000000"/>
                          </a:solidFill>
                          <a:effectLst/>
                          <a:latin typeface="Calibri" panose="020F0502020204030204" pitchFamily="34" charset="0"/>
                        </a:rPr>
                        <a:t>4</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F75B5"/>
                    </a:solidFill>
                  </a:tcPr>
                </a:tc>
                <a:tc>
                  <a:txBody>
                    <a:bodyPr/>
                    <a:lstStyle/>
                    <a:p>
                      <a:pPr algn="ctr" rtl="0" fontAlgn="ctr"/>
                      <a:r>
                        <a:rPr lang="en-US" sz="1400" b="0" i="0" u="none" strike="noStrike">
                          <a:solidFill>
                            <a:srgbClr val="000000"/>
                          </a:solidFill>
                          <a:effectLst/>
                          <a:latin typeface="Calibri" panose="020F0502020204030204" pitchFamily="34" charset="0"/>
                        </a:rPr>
                        <a:t>Magic Wand</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E0B4"/>
                    </a:solidFill>
                  </a:tcPr>
                </a:tc>
                <a:tc>
                  <a:txBody>
                    <a:bodyPr/>
                    <a:lstStyle/>
                    <a:p>
                      <a:pPr algn="l" rtl="0" fontAlgn="ctr"/>
                      <a:r>
                        <a:rPr lang="en-US" sz="1400" b="0" i="0" u="none" strike="noStrike">
                          <a:solidFill>
                            <a:srgbClr val="000000"/>
                          </a:solidFill>
                          <a:effectLst/>
                          <a:latin typeface="Calibri" panose="020F0502020204030204" pitchFamily="34" charset="0"/>
                        </a:rPr>
                        <a:t>This example classifies accelerometer data into one of 4 classes of gestures (Wing, Ring, Slop, unknown) </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6E0B4"/>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tc>
                  <a:txBody>
                    <a:bodyPr/>
                    <a:lstStyle/>
                    <a:p>
                      <a:pPr algn="ctr" rtl="0" fontAlgn="ctr"/>
                      <a:r>
                        <a:rPr lang="en-US" sz="1400" b="0" i="0" u="none" strike="noStrike">
                          <a:solidFill>
                            <a:srgbClr val="000000"/>
                          </a:solidFill>
                          <a:effectLst/>
                          <a:latin typeface="Calibri" panose="020F0502020204030204" pitchFamily="34" charset="0"/>
                        </a:rPr>
                        <a:t>Yes</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fontAlgn="ctr"/>
                      <a:r>
                        <a:rPr lang="en-US" sz="1400" b="0" i="0" u="none" strike="noStrike" dirty="0">
                          <a:solidFill>
                            <a:srgbClr val="000000"/>
                          </a:solidFill>
                          <a:effectLst/>
                          <a:latin typeface="Arial" panose="020B0604020202020204" pitchFamily="34" charset="0"/>
                        </a:rPr>
                        <a:t>-</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6A6A6"/>
                    </a:solidFill>
                  </a:tcPr>
                </a:tc>
                <a:extLst>
                  <a:ext uri="{0D108BD9-81ED-4DB2-BD59-A6C34878D82A}">
                    <a16:rowId xmlns:a16="http://schemas.microsoft.com/office/drawing/2014/main" val="3590846771"/>
                  </a:ext>
                </a:extLst>
              </a:tr>
            </a:tbl>
          </a:graphicData>
        </a:graphic>
      </p:graphicFrame>
      <p:sp>
        <p:nvSpPr>
          <p:cNvPr id="3" name="TextBox 2">
            <a:extLst>
              <a:ext uri="{FF2B5EF4-FFF2-40B4-BE49-F238E27FC236}">
                <a16:creationId xmlns:a16="http://schemas.microsoft.com/office/drawing/2014/main" id="{4D2C2DC4-E692-4941-8D69-0B0CDD540B68}"/>
              </a:ext>
            </a:extLst>
          </p:cNvPr>
          <p:cNvSpPr txBox="1"/>
          <p:nvPr/>
        </p:nvSpPr>
        <p:spPr>
          <a:xfrm>
            <a:off x="208365" y="873535"/>
            <a:ext cx="8648532" cy="1477328"/>
          </a:xfrm>
          <a:prstGeom prst="rect">
            <a:avLst/>
          </a:prstGeom>
          <a:noFill/>
        </p:spPr>
        <p:txBody>
          <a:bodyPr wrap="square" rtlCol="0">
            <a:spAutoFit/>
          </a:bodyPr>
          <a:lstStyle/>
          <a:p>
            <a:r>
              <a:rPr lang="en-US" sz="1800" b="1" dirty="0"/>
              <a:t>Harmony support for TensorFlow Lite for Microcontroller (TFLM):</a:t>
            </a:r>
          </a:p>
          <a:p>
            <a:pPr marL="285750" indent="-285750">
              <a:buClr>
                <a:srgbClr val="0E3689"/>
              </a:buClr>
              <a:buFont typeface="Wingdings" pitchFamily="2" charset="2"/>
              <a:buChar char="§"/>
            </a:pPr>
            <a:r>
              <a:rPr lang="en-US" sz="1800" dirty="0"/>
              <a:t>Harmony 3 component to easily configure and generate code for TFLM runtime engine</a:t>
            </a:r>
          </a:p>
          <a:p>
            <a:pPr marL="285750" indent="-285750">
              <a:buClr>
                <a:srgbClr val="0E3689"/>
              </a:buClr>
              <a:buFont typeface="Wingdings" pitchFamily="2" charset="2"/>
              <a:buChar char="§"/>
            </a:pPr>
            <a:endParaRPr lang="en-US" sz="1800" dirty="0"/>
          </a:p>
          <a:p>
            <a:pPr marL="285750" indent="-285750">
              <a:buClr>
                <a:srgbClr val="0E3689"/>
              </a:buClr>
              <a:buFont typeface="Wingdings" pitchFamily="2" charset="2"/>
              <a:buChar char="§"/>
            </a:pPr>
            <a:r>
              <a:rPr lang="en-US" sz="1800" dirty="0"/>
              <a:t>Example applications to demonstrate how to deploy TensorFlow Lite model for inferencing on Microcontrollers with TFLM run time engine</a:t>
            </a:r>
          </a:p>
        </p:txBody>
      </p:sp>
      <p:pic>
        <p:nvPicPr>
          <p:cNvPr id="5" name="Picture 4">
            <a:extLst>
              <a:ext uri="{FF2B5EF4-FFF2-40B4-BE49-F238E27FC236}">
                <a16:creationId xmlns:a16="http://schemas.microsoft.com/office/drawing/2014/main" id="{C5D28778-1268-4200-95AE-296F5755EE1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709753" y="96294"/>
            <a:ext cx="3263522" cy="2924687"/>
          </a:xfrm>
          <a:prstGeom prst="rect">
            <a:avLst/>
          </a:prstGeom>
        </p:spPr>
      </p:pic>
      <p:pic>
        <p:nvPicPr>
          <p:cNvPr id="4" name="Picture 3">
            <a:extLst>
              <a:ext uri="{FF2B5EF4-FFF2-40B4-BE49-F238E27FC236}">
                <a16:creationId xmlns:a16="http://schemas.microsoft.com/office/drawing/2014/main" id="{A873AA88-36B5-615A-1BC2-D00770F6441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2932" y="2342094"/>
            <a:ext cx="3557588" cy="2543675"/>
          </a:xfrm>
          <a:prstGeom prst="rect">
            <a:avLst/>
          </a:prstGeom>
        </p:spPr>
      </p:pic>
    </p:spTree>
    <p:extLst>
      <p:ext uri="{BB962C8B-B14F-4D97-AF65-F5344CB8AC3E}">
        <p14:creationId xmlns:p14="http://schemas.microsoft.com/office/powerpoint/2010/main" val="1965136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E9865-F49F-3271-CD0C-5A24EAA72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9259A-541E-1D9C-2AA2-6EDCC25F9CE4}"/>
              </a:ext>
            </a:extLst>
          </p:cNvPr>
          <p:cNvSpPr>
            <a:spLocks noGrp="1"/>
          </p:cNvSpPr>
          <p:nvPr>
            <p:ph type="title"/>
          </p:nvPr>
        </p:nvSpPr>
        <p:spPr/>
        <p:txBody>
          <a:bodyPr/>
          <a:lstStyle/>
          <a:p>
            <a:r>
              <a:rPr lang="en-US" dirty="0"/>
              <a:t>Add </a:t>
            </a:r>
            <a:r>
              <a:rPr lang="en-US" dirty="0" err="1"/>
              <a:t>TFLite</a:t>
            </a:r>
            <a:r>
              <a:rPr lang="en-US" dirty="0"/>
              <a:t> Micro to your project</a:t>
            </a:r>
          </a:p>
        </p:txBody>
      </p:sp>
      <p:sp>
        <p:nvSpPr>
          <p:cNvPr id="5" name="Content Placeholder 4">
            <a:extLst>
              <a:ext uri="{FF2B5EF4-FFF2-40B4-BE49-F238E27FC236}">
                <a16:creationId xmlns:a16="http://schemas.microsoft.com/office/drawing/2014/main" id="{11AF5A1B-A135-89DE-2ACB-F470BDAA5A5F}"/>
              </a:ext>
            </a:extLst>
          </p:cNvPr>
          <p:cNvSpPr>
            <a:spLocks noGrp="1"/>
          </p:cNvSpPr>
          <p:nvPr>
            <p:ph sz="quarter" idx="15"/>
          </p:nvPr>
        </p:nvSpPr>
        <p:spPr/>
        <p:txBody>
          <a:bodyPr/>
          <a:lstStyle/>
          <a:p>
            <a:r>
              <a:rPr lang="en-US" dirty="0"/>
              <a:t>Download the 2 </a:t>
            </a:r>
            <a:r>
              <a:rPr lang="en-US" dirty="0" err="1"/>
              <a:t>tensorflow</a:t>
            </a:r>
            <a:r>
              <a:rPr lang="en-US" dirty="0"/>
              <a:t> lite repositories from microchip harmony </a:t>
            </a:r>
            <a:r>
              <a:rPr lang="en-US" dirty="0" err="1"/>
              <a:t>github</a:t>
            </a:r>
            <a:r>
              <a:rPr lang="en-US" dirty="0"/>
              <a:t>:</a:t>
            </a:r>
          </a:p>
          <a:p>
            <a:pPr lvl="1"/>
            <a:r>
              <a:rPr lang="en-US" dirty="0">
                <a:hlinkClick r:id="rId2"/>
              </a:rPr>
              <a:t>https://github.com/Microchip-MPLAB-Harmony/tflite-micro-apps</a:t>
            </a:r>
            <a:endParaRPr lang="en-US" dirty="0"/>
          </a:p>
          <a:p>
            <a:pPr lvl="1"/>
            <a:r>
              <a:rPr lang="en-US" dirty="0"/>
              <a:t>https://github.com/Microchip-MPLAB-Harmony/tflite-micro</a:t>
            </a:r>
          </a:p>
        </p:txBody>
      </p:sp>
    </p:spTree>
    <p:extLst>
      <p:ext uri="{BB962C8B-B14F-4D97-AF65-F5344CB8AC3E}">
        <p14:creationId xmlns:p14="http://schemas.microsoft.com/office/powerpoint/2010/main" val="27877253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D960-B9BD-882A-3D6C-257DF7FFB08A}"/>
              </a:ext>
            </a:extLst>
          </p:cNvPr>
          <p:cNvSpPr>
            <a:spLocks noGrp="1"/>
          </p:cNvSpPr>
          <p:nvPr>
            <p:ph type="title"/>
          </p:nvPr>
        </p:nvSpPr>
        <p:spPr/>
        <p:txBody>
          <a:bodyPr/>
          <a:lstStyle/>
          <a:p>
            <a:r>
              <a:rPr lang="en-US" dirty="0"/>
              <a:t>Add </a:t>
            </a:r>
            <a:r>
              <a:rPr lang="en-US" dirty="0" err="1"/>
              <a:t>TFLite</a:t>
            </a:r>
            <a:r>
              <a:rPr lang="en-US" dirty="0"/>
              <a:t> Micro to your project</a:t>
            </a:r>
          </a:p>
        </p:txBody>
      </p:sp>
      <p:sp>
        <p:nvSpPr>
          <p:cNvPr id="3" name="Text Placeholder 2">
            <a:extLst>
              <a:ext uri="{FF2B5EF4-FFF2-40B4-BE49-F238E27FC236}">
                <a16:creationId xmlns:a16="http://schemas.microsoft.com/office/drawing/2014/main" id="{2E15F20F-F848-0C2B-1028-037E79EEE22F}"/>
              </a:ext>
            </a:extLst>
          </p:cNvPr>
          <p:cNvSpPr>
            <a:spLocks noGrp="1"/>
          </p:cNvSpPr>
          <p:nvPr>
            <p:ph type="body" sz="quarter" idx="13"/>
          </p:nvPr>
        </p:nvSpPr>
        <p:spPr/>
        <p:txBody>
          <a:bodyPr/>
          <a:lstStyle/>
          <a:p>
            <a:r>
              <a:rPr lang="en-US" dirty="0"/>
              <a:t> 1. Create an MPLAB project using Harmony</a:t>
            </a:r>
          </a:p>
        </p:txBody>
      </p:sp>
      <p:pic>
        <p:nvPicPr>
          <p:cNvPr id="6" name="Content Placeholder 5" descr="A screenshot of a computer&#10;&#10;Description automatically generated">
            <a:extLst>
              <a:ext uri="{FF2B5EF4-FFF2-40B4-BE49-F238E27FC236}">
                <a16:creationId xmlns:a16="http://schemas.microsoft.com/office/drawing/2014/main" id="{ACA3CB7B-7665-0C32-B211-C83CED107EBD}"/>
              </a:ext>
            </a:extLst>
          </p:cNvPr>
          <p:cNvPicPr>
            <a:picLocks noGrp="1" noChangeAspect="1"/>
          </p:cNvPicPr>
          <p:nvPr>
            <p:ph sz="quarter" idx="15"/>
          </p:nvPr>
        </p:nvPicPr>
        <p:blipFill>
          <a:blip r:embed="rId2"/>
          <a:stretch>
            <a:fillRect/>
          </a:stretch>
        </p:blipFill>
        <p:spPr>
          <a:xfrm>
            <a:off x="1569772" y="1260611"/>
            <a:ext cx="4113694" cy="2907246"/>
          </a:xfrm>
        </p:spPr>
      </p:pic>
      <p:pic>
        <p:nvPicPr>
          <p:cNvPr id="9" name="Picture 8" descr="A screenshot of a computer&#10;&#10;Description automatically generated">
            <a:extLst>
              <a:ext uri="{FF2B5EF4-FFF2-40B4-BE49-F238E27FC236}">
                <a16:creationId xmlns:a16="http://schemas.microsoft.com/office/drawing/2014/main" id="{F6869DD5-582D-B0BC-99BE-86950303DEE2}"/>
              </a:ext>
            </a:extLst>
          </p:cNvPr>
          <p:cNvPicPr>
            <a:picLocks noChangeAspect="1"/>
          </p:cNvPicPr>
          <p:nvPr/>
        </p:nvPicPr>
        <p:blipFill>
          <a:blip r:embed="rId3"/>
          <a:stretch>
            <a:fillRect/>
          </a:stretch>
        </p:blipFill>
        <p:spPr>
          <a:xfrm>
            <a:off x="1569772" y="4765216"/>
            <a:ext cx="4874689" cy="1829016"/>
          </a:xfrm>
          <a:prstGeom prst="rect">
            <a:avLst/>
          </a:prstGeom>
        </p:spPr>
      </p:pic>
      <p:sp>
        <p:nvSpPr>
          <p:cNvPr id="10" name="Text Placeholder 2">
            <a:extLst>
              <a:ext uri="{FF2B5EF4-FFF2-40B4-BE49-F238E27FC236}">
                <a16:creationId xmlns:a16="http://schemas.microsoft.com/office/drawing/2014/main" id="{E401A44D-57E7-D93A-BF6B-FA2C1C24DBBE}"/>
              </a:ext>
            </a:extLst>
          </p:cNvPr>
          <p:cNvSpPr txBox="1">
            <a:spLocks/>
          </p:cNvSpPr>
          <p:nvPr/>
        </p:nvSpPr>
        <p:spPr>
          <a:xfrm>
            <a:off x="355508" y="4167857"/>
            <a:ext cx="11400661" cy="428625"/>
          </a:xfrm>
          <a:prstGeom prst="rect">
            <a:avLst/>
          </a:prstGeom>
        </p:spPr>
        <p:txBody>
          <a:bodyPr vert="horz" lIns="121888" tIns="60944" rIns="121888" bIns="60944" rtlCol="0" anchor="ctr">
            <a:noAutofit/>
          </a:bodyPr>
          <a:lstStyle>
            <a:lvl1pPr marL="0" indent="0" algn="l" defTabSz="609443" rtl="0" eaLnBrk="1" latinLnBrk="0" hangingPunct="1">
              <a:spcBef>
                <a:spcPts val="300"/>
              </a:spcBef>
              <a:buClr>
                <a:srgbClr val="0E3689"/>
              </a:buClr>
              <a:buFont typeface="Arial"/>
              <a:buNone/>
              <a:defRPr sz="3200" b="1" kern="1200">
                <a:solidFill>
                  <a:srgbClr val="1D9CE4"/>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r>
              <a:rPr lang="en-US" dirty="0"/>
              <a:t> 2. Configure Tflite library</a:t>
            </a:r>
          </a:p>
        </p:txBody>
      </p:sp>
    </p:spTree>
    <p:extLst>
      <p:ext uri="{BB962C8B-B14F-4D97-AF65-F5344CB8AC3E}">
        <p14:creationId xmlns:p14="http://schemas.microsoft.com/office/powerpoint/2010/main" val="4245496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97E56-EB76-13F0-E10C-9E72E9ED156B}"/>
              </a:ext>
            </a:extLst>
          </p:cNvPr>
          <p:cNvSpPr>
            <a:spLocks noGrp="1"/>
          </p:cNvSpPr>
          <p:nvPr>
            <p:ph type="title"/>
          </p:nvPr>
        </p:nvSpPr>
        <p:spPr>
          <a:xfrm>
            <a:off x="355509" y="96295"/>
            <a:ext cx="11400661" cy="777240"/>
          </a:xfrm>
        </p:spPr>
        <p:txBody>
          <a:bodyPr/>
          <a:lstStyle/>
          <a:p>
            <a:r>
              <a:rPr lang="en-US" sz="3600" dirty="0"/>
              <a:t>Model Creation, Training, Evaluation and Deployment</a:t>
            </a:r>
          </a:p>
        </p:txBody>
      </p:sp>
      <p:sp>
        <p:nvSpPr>
          <p:cNvPr id="3" name="Text Placeholder 2">
            <a:extLst>
              <a:ext uri="{FF2B5EF4-FFF2-40B4-BE49-F238E27FC236}">
                <a16:creationId xmlns:a16="http://schemas.microsoft.com/office/drawing/2014/main" id="{5490BBBB-C1A9-567C-6BAA-A4BDDE280264}"/>
              </a:ext>
            </a:extLst>
          </p:cNvPr>
          <p:cNvSpPr>
            <a:spLocks noGrp="1"/>
          </p:cNvSpPr>
          <p:nvPr>
            <p:ph type="body" sz="quarter" idx="13"/>
          </p:nvPr>
        </p:nvSpPr>
        <p:spPr>
          <a:xfrm>
            <a:off x="368603" y="831986"/>
            <a:ext cx="11400661" cy="428625"/>
          </a:xfrm>
        </p:spPr>
        <p:txBody>
          <a:bodyPr>
            <a:normAutofit fontScale="70000" lnSpcReduction="20000"/>
          </a:bodyPr>
          <a:lstStyle/>
          <a:p>
            <a:r>
              <a:rPr lang="en-US" dirty="0"/>
              <a:t>General Steps - Summary</a:t>
            </a:r>
          </a:p>
        </p:txBody>
      </p:sp>
      <p:sp>
        <p:nvSpPr>
          <p:cNvPr id="5" name="Rectangle 1">
            <a:extLst>
              <a:ext uri="{FF2B5EF4-FFF2-40B4-BE49-F238E27FC236}">
                <a16:creationId xmlns:a16="http://schemas.microsoft.com/office/drawing/2014/main" id="{E5466F9D-C753-8A28-D376-0CF21D95933C}"/>
              </a:ext>
            </a:extLst>
          </p:cNvPr>
          <p:cNvSpPr>
            <a:spLocks noGrp="1" noChangeArrowheads="1"/>
          </p:cNvSpPr>
          <p:nvPr>
            <p:ph sz="quarter" idx="15"/>
          </p:nvPr>
        </p:nvSpPr>
        <p:spPr bwMode="auto">
          <a:xfrm>
            <a:off x="369093" y="1005259"/>
            <a:ext cx="11399838" cy="4847481"/>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lvl="0"/>
            <a:endParaRPr lang="en-US" altLang="en-US" dirty="0"/>
          </a:p>
          <a:p>
            <a:pPr marL="816221" lvl="1" indent="-514350">
              <a:buFont typeface="+mj-lt"/>
              <a:buAutoNum type="arabicPeriod"/>
            </a:pPr>
            <a:r>
              <a:rPr lang="en-US" altLang="en-US" dirty="0"/>
              <a:t>Open &lt;</a:t>
            </a:r>
            <a:r>
              <a:rPr lang="en-US" altLang="en-US" dirty="0" err="1"/>
              <a:t>your_project.ipynb</a:t>
            </a:r>
            <a:r>
              <a:rPr lang="en-US" altLang="en-US" dirty="0"/>
              <a:t>&gt; in Google </a:t>
            </a:r>
            <a:r>
              <a:rPr lang="en-US" altLang="en-US" dirty="0" err="1"/>
              <a:t>Colab</a:t>
            </a:r>
            <a:r>
              <a:rPr lang="en-US" altLang="en-US" dirty="0"/>
              <a:t> or </a:t>
            </a:r>
            <a:r>
              <a:rPr lang="en-US" altLang="en-US" dirty="0" err="1"/>
              <a:t>Jupyter</a:t>
            </a:r>
            <a:r>
              <a:rPr lang="en-US" altLang="en-US" dirty="0"/>
              <a:t> Notebook.</a:t>
            </a:r>
          </a:p>
          <a:p>
            <a:pPr marL="816221" lvl="1" indent="-514350">
              <a:buFont typeface="+mj-lt"/>
              <a:buAutoNum type="arabicPeriod"/>
            </a:pPr>
            <a:r>
              <a:rPr lang="en-US" altLang="en-US" dirty="0"/>
              <a:t>Load and preprocess the dataset.</a:t>
            </a:r>
          </a:p>
          <a:p>
            <a:pPr marL="816221" lvl="1" indent="-514350">
              <a:buFont typeface="+mj-lt"/>
              <a:buAutoNum type="arabicPeriod"/>
            </a:pPr>
            <a:r>
              <a:rPr lang="en-US" altLang="en-US" dirty="0"/>
              <a:t>Build and train an CNN model using </a:t>
            </a:r>
            <a:r>
              <a:rPr lang="en-US" altLang="en-US" dirty="0" err="1"/>
              <a:t>Keras</a:t>
            </a:r>
            <a:r>
              <a:rPr lang="en-US" altLang="en-US" dirty="0"/>
              <a:t> API in TensorFlow.</a:t>
            </a:r>
          </a:p>
          <a:p>
            <a:pPr marL="816221" lvl="1" indent="-514350">
              <a:buFont typeface="+mj-lt"/>
              <a:buAutoNum type="arabicPeriod"/>
            </a:pPr>
            <a:r>
              <a:rPr lang="en-US" altLang="en-US" dirty="0"/>
              <a:t>Convert the trained model to a quantized TensorFlow Lite model.</a:t>
            </a:r>
          </a:p>
          <a:p>
            <a:pPr marL="816221" lvl="1" indent="-514350">
              <a:buFont typeface="+mj-lt"/>
              <a:buAutoNum type="arabicPeriod"/>
            </a:pPr>
            <a:r>
              <a:rPr lang="en-US" altLang="en-US" dirty="0"/>
              <a:t>Convert the TensorFlow Lite model to a C source file for target (Ex. SAMA5D22) deployment.</a:t>
            </a:r>
          </a:p>
          <a:p>
            <a:pPr marL="816221" lvl="1" indent="-514350">
              <a:buFont typeface="+mj-lt"/>
              <a:buAutoNum type="arabicPeriod"/>
            </a:pPr>
            <a:r>
              <a:rPr lang="en-US" altLang="en-US" dirty="0"/>
              <a:t>Deploy the Model to the SAMA5D22.</a:t>
            </a:r>
          </a:p>
          <a:p>
            <a:pPr marL="0" indent="0">
              <a:buNone/>
            </a:pPr>
            <a:r>
              <a:rPr lang="en-US" altLang="en-US" dirty="0"/>
              <a:t>Note: Steps 3 to 6 are detailed in the next slides.</a:t>
            </a:r>
          </a:p>
          <a:p>
            <a:pPr lvl="0"/>
            <a:endParaRPr lang="en-US" altLang="en-US" dirty="0"/>
          </a:p>
        </p:txBody>
      </p:sp>
    </p:spTree>
    <p:extLst>
      <p:ext uri="{BB962C8B-B14F-4D97-AF65-F5344CB8AC3E}">
        <p14:creationId xmlns:p14="http://schemas.microsoft.com/office/powerpoint/2010/main" val="312713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4CA39D0-4088-C97E-7ED2-7F245987BB5F}"/>
              </a:ext>
            </a:extLst>
          </p:cNvPr>
          <p:cNvSpPr>
            <a:spLocks noGrp="1"/>
          </p:cNvSpPr>
          <p:nvPr>
            <p:ph type="title"/>
          </p:nvPr>
        </p:nvSpPr>
        <p:spPr/>
        <p:txBody>
          <a:bodyPr/>
          <a:lstStyle/>
          <a:p>
            <a:r>
              <a:rPr lang="en-US" b="1" i="0" dirty="0">
                <a:effectLst/>
              </a:rPr>
              <a:t>Step 3: Build and Train an ANN Model</a:t>
            </a:r>
            <a:br>
              <a:rPr lang="en-US" b="1" i="0" dirty="0">
                <a:effectLst/>
              </a:rPr>
            </a:br>
            <a:endParaRPr lang="en-US" dirty="0"/>
          </a:p>
        </p:txBody>
      </p:sp>
      <p:sp>
        <p:nvSpPr>
          <p:cNvPr id="4" name="Content Placeholder 3">
            <a:extLst>
              <a:ext uri="{FF2B5EF4-FFF2-40B4-BE49-F238E27FC236}">
                <a16:creationId xmlns:a16="http://schemas.microsoft.com/office/drawing/2014/main" id="{007ED35A-3A2E-9186-BA57-D5454DE49EF2}"/>
              </a:ext>
            </a:extLst>
          </p:cNvPr>
          <p:cNvSpPr>
            <a:spLocks noGrp="1"/>
          </p:cNvSpPr>
          <p:nvPr>
            <p:ph sz="quarter" idx="13"/>
          </p:nvPr>
        </p:nvSpPr>
        <p:spPr/>
        <p:txBody>
          <a:bodyPr>
            <a:normAutofit fontScale="92500" lnSpcReduction="20000"/>
          </a:bodyPr>
          <a:lstStyle/>
          <a:p>
            <a:pPr lvl="1">
              <a:buFont typeface="Wingdings" panose="05000000000000000000" pitchFamily="2" charset="2"/>
              <a:buChar char="q"/>
            </a:pPr>
            <a:r>
              <a:rPr lang="en-US" b="0" i="0" dirty="0">
                <a:effectLst/>
                <a:latin typeface="+mj-lt"/>
              </a:rPr>
              <a:t>Using </a:t>
            </a:r>
            <a:r>
              <a:rPr lang="en-US" b="0" i="0" dirty="0" err="1">
                <a:effectLst/>
                <a:latin typeface="+mj-lt"/>
              </a:rPr>
              <a:t>Keras</a:t>
            </a:r>
            <a:r>
              <a:rPr lang="en-US" b="0" i="0" dirty="0">
                <a:effectLst/>
                <a:latin typeface="+mj-lt"/>
              </a:rPr>
              <a:t>, an Artificial Neural Network (ANN) model is built with three hidden dense layers, a dropout layer, and a final dense layer with </a:t>
            </a:r>
            <a:r>
              <a:rPr lang="en-US" b="0" i="0" dirty="0" err="1">
                <a:effectLst/>
                <a:latin typeface="+mj-lt"/>
              </a:rPr>
              <a:t>softmax</a:t>
            </a:r>
            <a:r>
              <a:rPr lang="en-US" b="0" i="0" dirty="0">
                <a:effectLst/>
                <a:latin typeface="+mj-lt"/>
              </a:rPr>
              <a:t> activation.</a:t>
            </a:r>
          </a:p>
          <a:p>
            <a:pPr marL="301752" lvl="1" indent="0">
              <a:buNone/>
            </a:pPr>
            <a:endParaRPr lang="en-US" dirty="0">
              <a:latin typeface="+mj-lt"/>
            </a:endParaRPr>
          </a:p>
          <a:p>
            <a:pPr marL="868680" lvl="3" indent="0">
              <a:buNone/>
            </a:pPr>
            <a:r>
              <a:rPr lang="en-US" i="1" dirty="0">
                <a:latin typeface="+mj-lt"/>
              </a:rPr>
              <a:t>import tensorflow as </a:t>
            </a:r>
            <a:r>
              <a:rPr lang="en-US" i="1" dirty="0" err="1">
                <a:latin typeface="+mj-lt"/>
              </a:rPr>
              <a:t>tf</a:t>
            </a:r>
            <a:endParaRPr lang="en-US" i="1" dirty="0">
              <a:latin typeface="+mj-lt"/>
            </a:endParaRPr>
          </a:p>
          <a:p>
            <a:pPr marL="868680" lvl="3" indent="0">
              <a:buNone/>
            </a:pPr>
            <a:r>
              <a:rPr lang="en-US" i="1" dirty="0">
                <a:latin typeface="+mj-lt"/>
              </a:rPr>
              <a:t>from </a:t>
            </a:r>
            <a:r>
              <a:rPr lang="en-US" i="1" dirty="0" err="1">
                <a:latin typeface="+mj-lt"/>
              </a:rPr>
              <a:t>keras</a:t>
            </a:r>
            <a:r>
              <a:rPr lang="en-US" i="1" dirty="0">
                <a:latin typeface="+mj-lt"/>
              </a:rPr>
              <a:t> import layers</a:t>
            </a:r>
          </a:p>
          <a:p>
            <a:pPr marL="868680" lvl="3" indent="0">
              <a:buNone/>
            </a:pPr>
            <a:endParaRPr lang="en-US" i="1" dirty="0">
              <a:latin typeface="+mj-lt"/>
            </a:endParaRPr>
          </a:p>
          <a:p>
            <a:pPr lvl="3"/>
            <a:r>
              <a:rPr lang="en-US" i="1" dirty="0">
                <a:latin typeface="+mj-lt"/>
              </a:rPr>
              <a:t> </a:t>
            </a:r>
            <a:r>
              <a:rPr lang="en-US" i="1" dirty="0">
                <a:solidFill>
                  <a:schemeClr val="accent4"/>
                </a:solidFill>
                <a:latin typeface="+mj-lt"/>
              </a:rPr>
              <a:t>Build the ANN model</a:t>
            </a:r>
          </a:p>
          <a:p>
            <a:pPr marL="868680" lvl="3" indent="0">
              <a:buNone/>
            </a:pPr>
            <a:r>
              <a:rPr lang="en-US" i="1" dirty="0">
                <a:latin typeface="+mj-lt"/>
              </a:rPr>
              <a:t>model = </a:t>
            </a:r>
            <a:r>
              <a:rPr lang="en-US" i="1" dirty="0" err="1">
                <a:latin typeface="+mj-lt"/>
              </a:rPr>
              <a:t>tf.keras.Sequential</a:t>
            </a:r>
            <a:r>
              <a:rPr lang="en-US" i="1" dirty="0">
                <a:latin typeface="+mj-lt"/>
              </a:rPr>
              <a:t>([</a:t>
            </a:r>
          </a:p>
          <a:p>
            <a:pPr marL="868680" lvl="3" indent="0">
              <a:buNone/>
            </a:pPr>
            <a:r>
              <a:rPr lang="en-US" i="1" dirty="0">
                <a:latin typeface="+mj-lt"/>
              </a:rPr>
              <a:t>    </a:t>
            </a:r>
            <a:r>
              <a:rPr lang="en-US" i="1" dirty="0" err="1">
                <a:latin typeface="+mj-lt"/>
              </a:rPr>
              <a:t>layers.Dense</a:t>
            </a:r>
            <a:r>
              <a:rPr lang="en-US" i="1" dirty="0">
                <a:latin typeface="+mj-lt"/>
              </a:rPr>
              <a:t>(8, activation='</a:t>
            </a:r>
            <a:r>
              <a:rPr lang="en-US" i="1" dirty="0" err="1">
                <a:latin typeface="+mj-lt"/>
              </a:rPr>
              <a:t>LeakyReLU</a:t>
            </a:r>
            <a:r>
              <a:rPr lang="en-US" i="1" dirty="0">
                <a:latin typeface="+mj-lt"/>
              </a:rPr>
              <a:t>', </a:t>
            </a:r>
            <a:r>
              <a:rPr lang="en-US" i="1" dirty="0" err="1">
                <a:latin typeface="+mj-lt"/>
              </a:rPr>
              <a:t>input_shape</a:t>
            </a:r>
            <a:r>
              <a:rPr lang="en-US" i="1" dirty="0">
                <a:latin typeface="+mj-lt"/>
              </a:rPr>
              <a:t>=[</a:t>
            </a:r>
            <a:r>
              <a:rPr lang="en-US" i="1" dirty="0" err="1">
                <a:latin typeface="+mj-lt"/>
              </a:rPr>
              <a:t>xtrain.shape</a:t>
            </a:r>
            <a:r>
              <a:rPr lang="en-US" i="1" dirty="0">
                <a:latin typeface="+mj-lt"/>
              </a:rPr>
              <a:t>[1]]),</a:t>
            </a:r>
          </a:p>
          <a:p>
            <a:pPr marL="868680" lvl="3" indent="0">
              <a:buNone/>
            </a:pPr>
            <a:r>
              <a:rPr lang="en-US" i="1" dirty="0">
                <a:latin typeface="+mj-lt"/>
              </a:rPr>
              <a:t>    </a:t>
            </a:r>
            <a:r>
              <a:rPr lang="en-US" i="1" dirty="0" err="1">
                <a:latin typeface="+mj-lt"/>
              </a:rPr>
              <a:t>layers.Dense</a:t>
            </a:r>
            <a:r>
              <a:rPr lang="en-US" i="1" dirty="0">
                <a:latin typeface="+mj-lt"/>
              </a:rPr>
              <a:t>(16, activation='</a:t>
            </a:r>
            <a:r>
              <a:rPr lang="en-US" i="1" dirty="0" err="1">
                <a:latin typeface="+mj-lt"/>
              </a:rPr>
              <a:t>LeakyReLU</a:t>
            </a:r>
            <a:r>
              <a:rPr lang="en-US" i="1" dirty="0">
                <a:latin typeface="+mj-lt"/>
              </a:rPr>
              <a:t>'),</a:t>
            </a:r>
          </a:p>
          <a:p>
            <a:pPr marL="868680" lvl="3" indent="0">
              <a:buNone/>
            </a:pPr>
            <a:r>
              <a:rPr lang="en-US" i="1" dirty="0">
                <a:latin typeface="+mj-lt"/>
              </a:rPr>
              <a:t>    </a:t>
            </a:r>
            <a:r>
              <a:rPr lang="en-US" i="1" dirty="0" err="1">
                <a:latin typeface="+mj-lt"/>
              </a:rPr>
              <a:t>layers.Dropout</a:t>
            </a:r>
            <a:r>
              <a:rPr lang="en-US" i="1" dirty="0">
                <a:latin typeface="+mj-lt"/>
              </a:rPr>
              <a:t>(0.2),</a:t>
            </a:r>
          </a:p>
          <a:p>
            <a:pPr marL="868680" lvl="3" indent="0">
              <a:buNone/>
            </a:pPr>
            <a:r>
              <a:rPr lang="en-US" i="1" dirty="0">
                <a:latin typeface="+mj-lt"/>
              </a:rPr>
              <a:t>    </a:t>
            </a:r>
            <a:r>
              <a:rPr lang="en-US" i="1" dirty="0" err="1">
                <a:latin typeface="+mj-lt"/>
              </a:rPr>
              <a:t>layers.Dense</a:t>
            </a:r>
            <a:r>
              <a:rPr lang="en-US" i="1" dirty="0">
                <a:latin typeface="+mj-lt"/>
              </a:rPr>
              <a:t>(8, activation='</a:t>
            </a:r>
            <a:r>
              <a:rPr lang="en-US" i="1" dirty="0" err="1">
                <a:latin typeface="+mj-lt"/>
              </a:rPr>
              <a:t>LeakyReLU</a:t>
            </a:r>
            <a:r>
              <a:rPr lang="en-US" i="1" dirty="0">
                <a:latin typeface="+mj-lt"/>
              </a:rPr>
              <a:t>'),</a:t>
            </a:r>
          </a:p>
          <a:p>
            <a:pPr marL="868680" lvl="3" indent="0">
              <a:buNone/>
            </a:pPr>
            <a:r>
              <a:rPr lang="en-US" i="1" dirty="0">
                <a:latin typeface="+mj-lt"/>
              </a:rPr>
              <a:t>    </a:t>
            </a:r>
            <a:r>
              <a:rPr lang="en-US" i="1" dirty="0" err="1">
                <a:latin typeface="+mj-lt"/>
              </a:rPr>
              <a:t>layers.Dense</a:t>
            </a:r>
            <a:r>
              <a:rPr lang="en-US" i="1" dirty="0">
                <a:latin typeface="+mj-lt"/>
              </a:rPr>
              <a:t>(</a:t>
            </a:r>
            <a:r>
              <a:rPr lang="en-US" i="1" dirty="0" err="1">
                <a:latin typeface="+mj-lt"/>
              </a:rPr>
              <a:t>ytrain.shape</a:t>
            </a:r>
            <a:r>
              <a:rPr lang="en-US" i="1" dirty="0">
                <a:latin typeface="+mj-lt"/>
              </a:rPr>
              <a:t>[1], activation='</a:t>
            </a:r>
            <a:r>
              <a:rPr lang="en-US" i="1" dirty="0" err="1">
                <a:latin typeface="+mj-lt"/>
              </a:rPr>
              <a:t>softmax</a:t>
            </a:r>
            <a:r>
              <a:rPr lang="en-US" i="1" dirty="0">
                <a:latin typeface="+mj-lt"/>
              </a:rPr>
              <a:t>'),</a:t>
            </a:r>
          </a:p>
          <a:p>
            <a:pPr marL="868680" lvl="3" indent="0">
              <a:buNone/>
            </a:pPr>
            <a:r>
              <a:rPr lang="en-US" i="1" dirty="0">
                <a:latin typeface="+mj-lt"/>
              </a:rPr>
              <a:t>])</a:t>
            </a:r>
          </a:p>
          <a:p>
            <a:pPr marL="868680" lvl="3" indent="0">
              <a:buNone/>
            </a:pPr>
            <a:endParaRPr lang="en-US" i="1" dirty="0">
              <a:latin typeface="+mj-lt"/>
            </a:endParaRPr>
          </a:p>
          <a:p>
            <a:pPr marL="868680" lvl="3" indent="0">
              <a:buNone/>
            </a:pPr>
            <a:r>
              <a:rPr lang="en-US" i="1" dirty="0" err="1">
                <a:latin typeface="+mj-lt"/>
              </a:rPr>
              <a:t>model.summary</a:t>
            </a:r>
            <a:r>
              <a:rPr lang="en-US" i="1" dirty="0">
                <a:latin typeface="+mj-lt"/>
              </a:rPr>
              <a:t>()</a:t>
            </a:r>
          </a:p>
          <a:p>
            <a:endParaRPr lang="en-US" dirty="0"/>
          </a:p>
        </p:txBody>
      </p:sp>
    </p:spTree>
    <p:extLst>
      <p:ext uri="{BB962C8B-B14F-4D97-AF65-F5344CB8AC3E}">
        <p14:creationId xmlns:p14="http://schemas.microsoft.com/office/powerpoint/2010/main" val="3786596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A6467-A686-F050-E8F2-D93EBBD8C2B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1F84C713-21F0-A548-1768-72237198616F}"/>
              </a:ext>
            </a:extLst>
          </p:cNvPr>
          <p:cNvSpPr>
            <a:spLocks noGrp="1"/>
          </p:cNvSpPr>
          <p:nvPr>
            <p:ph type="title"/>
          </p:nvPr>
        </p:nvSpPr>
        <p:spPr/>
        <p:txBody>
          <a:bodyPr/>
          <a:lstStyle/>
          <a:p>
            <a:r>
              <a:rPr lang="en-US" b="1" i="0" dirty="0">
                <a:effectLst/>
              </a:rPr>
              <a:t>Step 3: Build and Train a CNN Model</a:t>
            </a:r>
            <a:br>
              <a:rPr lang="en-US" b="1" i="0" dirty="0">
                <a:effectLst/>
              </a:rPr>
            </a:br>
            <a:endParaRPr lang="en-US" dirty="0"/>
          </a:p>
        </p:txBody>
      </p:sp>
      <p:sp>
        <p:nvSpPr>
          <p:cNvPr id="4" name="Content Placeholder 3">
            <a:extLst>
              <a:ext uri="{FF2B5EF4-FFF2-40B4-BE49-F238E27FC236}">
                <a16:creationId xmlns:a16="http://schemas.microsoft.com/office/drawing/2014/main" id="{AF9096A9-EDCF-DE7C-E56A-CCD20A96DC53}"/>
              </a:ext>
            </a:extLst>
          </p:cNvPr>
          <p:cNvSpPr>
            <a:spLocks noGrp="1"/>
          </p:cNvSpPr>
          <p:nvPr>
            <p:ph sz="quarter" idx="13"/>
          </p:nvPr>
        </p:nvSpPr>
        <p:spPr>
          <a:xfrm>
            <a:off x="354778" y="923073"/>
            <a:ext cx="11400660" cy="5665986"/>
          </a:xfrm>
        </p:spPr>
        <p:txBody>
          <a:bodyPr>
            <a:normAutofit fontScale="77500" lnSpcReduction="20000"/>
          </a:bodyPr>
          <a:lstStyle/>
          <a:p>
            <a:pPr lvl="1">
              <a:buFont typeface="Wingdings" panose="05000000000000000000" pitchFamily="2" charset="2"/>
              <a:buChar char="q"/>
            </a:pPr>
            <a:r>
              <a:rPr lang="en-US" sz="2900" b="0" i="0" dirty="0">
                <a:solidFill>
                  <a:srgbClr val="212529"/>
                </a:solidFill>
                <a:effectLst/>
              </a:rPr>
              <a:t>Using </a:t>
            </a:r>
            <a:r>
              <a:rPr lang="en-US" sz="2900" b="0" i="0" dirty="0" err="1">
                <a:solidFill>
                  <a:srgbClr val="212529"/>
                </a:solidFill>
                <a:effectLst/>
              </a:rPr>
              <a:t>Keras</a:t>
            </a:r>
            <a:r>
              <a:rPr lang="en-US" sz="2900" b="0" i="0" dirty="0">
                <a:solidFill>
                  <a:srgbClr val="212529"/>
                </a:solidFill>
                <a:effectLst/>
              </a:rPr>
              <a:t>, a Convolutional Neural Network (CNN) model is constructed with three convolutional layers, each followed by a max pooling layer, a flattening layer to convert the 2D feature maps into a 1D vector, a fully connected dense layer, and a final dense layer with </a:t>
            </a:r>
            <a:r>
              <a:rPr lang="en-US" sz="2900" b="0" i="0" dirty="0" err="1">
                <a:solidFill>
                  <a:srgbClr val="212529"/>
                </a:solidFill>
                <a:effectLst/>
              </a:rPr>
              <a:t>softmax</a:t>
            </a:r>
            <a:r>
              <a:rPr lang="en-US" sz="2900" b="0" i="0" dirty="0">
                <a:solidFill>
                  <a:srgbClr val="212529"/>
                </a:solidFill>
                <a:effectLst/>
              </a:rPr>
              <a:t> activation for classification.</a:t>
            </a:r>
          </a:p>
          <a:p>
            <a:pPr marL="301752" lvl="1" indent="0">
              <a:buNone/>
            </a:pPr>
            <a:endParaRPr lang="en-US" dirty="0">
              <a:latin typeface="+mj-lt"/>
            </a:endParaRPr>
          </a:p>
          <a:p>
            <a:pPr marL="868680" lvl="3" indent="0">
              <a:buNone/>
            </a:pPr>
            <a:r>
              <a:rPr lang="en-US" i="1" dirty="0">
                <a:latin typeface="+mj-lt"/>
              </a:rPr>
              <a:t>import tensorflow as </a:t>
            </a:r>
            <a:r>
              <a:rPr lang="en-US" i="1" dirty="0" err="1">
                <a:latin typeface="+mj-lt"/>
              </a:rPr>
              <a:t>tf</a:t>
            </a:r>
            <a:endParaRPr lang="en-US" i="1" dirty="0">
              <a:latin typeface="+mj-lt"/>
            </a:endParaRPr>
          </a:p>
          <a:p>
            <a:pPr marL="868680" lvl="3" indent="0">
              <a:buNone/>
            </a:pPr>
            <a:r>
              <a:rPr lang="en-US" i="1" dirty="0">
                <a:latin typeface="+mj-lt"/>
              </a:rPr>
              <a:t>from </a:t>
            </a:r>
            <a:r>
              <a:rPr lang="en-US" i="1" dirty="0" err="1">
                <a:latin typeface="+mj-lt"/>
              </a:rPr>
              <a:t>keras</a:t>
            </a:r>
            <a:r>
              <a:rPr lang="en-US" i="1" dirty="0">
                <a:latin typeface="+mj-lt"/>
              </a:rPr>
              <a:t> import layers</a:t>
            </a:r>
          </a:p>
          <a:p>
            <a:pPr marL="868680" lvl="3" indent="0">
              <a:buNone/>
            </a:pPr>
            <a:endParaRPr lang="en-US" i="1" dirty="0">
              <a:latin typeface="+mj-lt"/>
            </a:endParaRPr>
          </a:p>
          <a:p>
            <a:pPr lvl="3"/>
            <a:r>
              <a:rPr lang="en-US" i="1" dirty="0">
                <a:latin typeface="+mj-lt"/>
              </a:rPr>
              <a:t> </a:t>
            </a:r>
            <a:r>
              <a:rPr lang="en-US" i="1" dirty="0">
                <a:solidFill>
                  <a:schemeClr val="accent4"/>
                </a:solidFill>
                <a:latin typeface="+mj-lt"/>
              </a:rPr>
              <a:t>Build the CNN model</a:t>
            </a:r>
          </a:p>
          <a:p>
            <a:pPr marL="868680" lvl="3" indent="0">
              <a:buNone/>
            </a:pPr>
            <a:r>
              <a:rPr lang="en-US" i="1" dirty="0">
                <a:latin typeface="+mj-lt"/>
              </a:rPr>
              <a:t>model = </a:t>
            </a:r>
            <a:r>
              <a:rPr lang="en-US" i="1" dirty="0" err="1">
                <a:latin typeface="+mj-lt"/>
              </a:rPr>
              <a:t>tf.keras.Sequential</a:t>
            </a:r>
            <a:r>
              <a:rPr lang="en-US" i="1" dirty="0">
                <a:latin typeface="+mj-lt"/>
              </a:rPr>
              <a:t>([</a:t>
            </a:r>
          </a:p>
          <a:p>
            <a:pPr marL="868680" lvl="3" indent="0">
              <a:buNone/>
            </a:pPr>
            <a:r>
              <a:rPr lang="en-US" i="1" dirty="0">
                <a:latin typeface="+mj-lt"/>
              </a:rPr>
              <a:t>    layers.Conv2D(32, (3, 3), activation='</a:t>
            </a:r>
            <a:r>
              <a:rPr lang="en-US" i="1" dirty="0" err="1">
                <a:latin typeface="+mj-lt"/>
              </a:rPr>
              <a:t>relu</a:t>
            </a:r>
            <a:r>
              <a:rPr lang="en-US" i="1" dirty="0">
                <a:latin typeface="+mj-lt"/>
              </a:rPr>
              <a:t>', </a:t>
            </a:r>
            <a:r>
              <a:rPr lang="en-US" i="1" dirty="0" err="1">
                <a:latin typeface="+mj-lt"/>
              </a:rPr>
              <a:t>input_shape</a:t>
            </a:r>
            <a:r>
              <a:rPr lang="en-US" i="1" dirty="0">
                <a:latin typeface="+mj-lt"/>
              </a:rPr>
              <a:t>=(height, width, channels)),</a:t>
            </a:r>
          </a:p>
          <a:p>
            <a:pPr marL="868680" lvl="3" indent="0">
              <a:buNone/>
            </a:pPr>
            <a:r>
              <a:rPr lang="en-US" i="1" dirty="0">
                <a:latin typeface="+mj-lt"/>
              </a:rPr>
              <a:t>    layers.MaxPooling2D((2, 2)),</a:t>
            </a:r>
          </a:p>
          <a:p>
            <a:pPr marL="868680" lvl="3" indent="0">
              <a:buNone/>
            </a:pPr>
            <a:r>
              <a:rPr lang="en-US" i="1" dirty="0">
                <a:latin typeface="+mj-lt"/>
              </a:rPr>
              <a:t>    layers.Conv2D(64, (3, 3), activation='</a:t>
            </a:r>
            <a:r>
              <a:rPr lang="en-US" i="1" dirty="0" err="1">
                <a:latin typeface="+mj-lt"/>
              </a:rPr>
              <a:t>relu</a:t>
            </a:r>
            <a:r>
              <a:rPr lang="en-US" i="1" dirty="0">
                <a:latin typeface="+mj-lt"/>
              </a:rPr>
              <a:t>'),</a:t>
            </a:r>
          </a:p>
          <a:p>
            <a:pPr marL="868680" lvl="3" indent="0">
              <a:buNone/>
            </a:pPr>
            <a:r>
              <a:rPr lang="en-US" i="1" dirty="0">
                <a:latin typeface="+mj-lt"/>
              </a:rPr>
              <a:t>    layers.MaxPooling2D((2, 2)),</a:t>
            </a:r>
          </a:p>
          <a:p>
            <a:pPr marL="868680" lvl="3" indent="0">
              <a:buNone/>
            </a:pPr>
            <a:r>
              <a:rPr lang="en-US" i="1" dirty="0">
                <a:latin typeface="+mj-lt"/>
              </a:rPr>
              <a:t>    layers.Conv2D(128, (3, 3), activation='</a:t>
            </a:r>
            <a:r>
              <a:rPr lang="en-US" i="1" dirty="0" err="1">
                <a:latin typeface="+mj-lt"/>
              </a:rPr>
              <a:t>relu</a:t>
            </a:r>
            <a:r>
              <a:rPr lang="en-US" i="1" dirty="0">
                <a:latin typeface="+mj-lt"/>
              </a:rPr>
              <a:t>'),</a:t>
            </a:r>
          </a:p>
          <a:p>
            <a:pPr marL="868680" lvl="3" indent="0">
              <a:buNone/>
            </a:pPr>
            <a:r>
              <a:rPr lang="en-US" i="1" dirty="0">
                <a:latin typeface="+mj-lt"/>
              </a:rPr>
              <a:t>    layers.MaxPooling2D((2, 2)),</a:t>
            </a:r>
          </a:p>
          <a:p>
            <a:pPr marL="868680" lvl="3" indent="0">
              <a:buNone/>
            </a:pPr>
            <a:r>
              <a:rPr lang="en-US" i="1" dirty="0">
                <a:latin typeface="+mj-lt"/>
              </a:rPr>
              <a:t>    </a:t>
            </a:r>
            <a:r>
              <a:rPr lang="en-US" i="1" dirty="0" err="1">
                <a:latin typeface="+mj-lt"/>
              </a:rPr>
              <a:t>layers.Flatten</a:t>
            </a:r>
            <a:r>
              <a:rPr lang="en-US" i="1" dirty="0">
                <a:latin typeface="+mj-lt"/>
              </a:rPr>
              <a:t>(),</a:t>
            </a:r>
          </a:p>
          <a:p>
            <a:pPr marL="868680" lvl="3" indent="0">
              <a:buNone/>
            </a:pPr>
            <a:r>
              <a:rPr lang="en-US" i="1" dirty="0">
                <a:latin typeface="+mj-lt"/>
              </a:rPr>
              <a:t>    </a:t>
            </a:r>
            <a:r>
              <a:rPr lang="en-US" i="1" dirty="0" err="1">
                <a:latin typeface="+mj-lt"/>
              </a:rPr>
              <a:t>layers.Dense</a:t>
            </a:r>
            <a:r>
              <a:rPr lang="en-US" i="1" dirty="0">
                <a:latin typeface="+mj-lt"/>
              </a:rPr>
              <a:t>(64, activation='</a:t>
            </a:r>
            <a:r>
              <a:rPr lang="en-US" i="1" dirty="0" err="1">
                <a:latin typeface="+mj-lt"/>
              </a:rPr>
              <a:t>relu</a:t>
            </a:r>
            <a:r>
              <a:rPr lang="en-US" i="1" dirty="0">
                <a:latin typeface="+mj-lt"/>
              </a:rPr>
              <a:t>'),</a:t>
            </a:r>
          </a:p>
          <a:p>
            <a:pPr marL="868680" lvl="3" indent="0">
              <a:buNone/>
            </a:pPr>
            <a:r>
              <a:rPr lang="en-US" i="1" dirty="0">
                <a:latin typeface="+mj-lt"/>
              </a:rPr>
              <a:t>    </a:t>
            </a:r>
            <a:r>
              <a:rPr lang="en-US" i="1" dirty="0" err="1">
                <a:latin typeface="+mj-lt"/>
              </a:rPr>
              <a:t>layers.Dense</a:t>
            </a:r>
            <a:r>
              <a:rPr lang="en-US" i="1" dirty="0">
                <a:latin typeface="+mj-lt"/>
              </a:rPr>
              <a:t>(</a:t>
            </a:r>
            <a:r>
              <a:rPr lang="en-US" i="1" dirty="0" err="1">
                <a:latin typeface="+mj-lt"/>
              </a:rPr>
              <a:t>num_classes</a:t>
            </a:r>
            <a:r>
              <a:rPr lang="en-US" i="1" dirty="0">
                <a:latin typeface="+mj-lt"/>
              </a:rPr>
              <a:t>, activation='</a:t>
            </a:r>
            <a:r>
              <a:rPr lang="en-US" i="1" dirty="0" err="1">
                <a:latin typeface="+mj-lt"/>
              </a:rPr>
              <a:t>softmax</a:t>
            </a:r>
            <a:r>
              <a:rPr lang="en-US" i="1" dirty="0">
                <a:latin typeface="+mj-lt"/>
              </a:rPr>
              <a:t>'),</a:t>
            </a:r>
          </a:p>
          <a:p>
            <a:pPr marL="868680" lvl="3" indent="0">
              <a:buNone/>
            </a:pPr>
            <a:r>
              <a:rPr lang="en-US" i="1" dirty="0">
                <a:latin typeface="+mj-lt"/>
              </a:rPr>
              <a:t>])</a:t>
            </a:r>
          </a:p>
          <a:p>
            <a:pPr marL="868680" lvl="3" indent="0">
              <a:buNone/>
            </a:pPr>
            <a:endParaRPr lang="en-US" i="1" dirty="0">
              <a:latin typeface="+mj-lt"/>
            </a:endParaRPr>
          </a:p>
          <a:p>
            <a:pPr marL="868680" lvl="3" indent="0">
              <a:buNone/>
            </a:pPr>
            <a:r>
              <a:rPr lang="en-US" i="1" dirty="0" err="1">
                <a:latin typeface="+mj-lt"/>
              </a:rPr>
              <a:t>model.summary</a:t>
            </a:r>
            <a:r>
              <a:rPr lang="en-US" i="1" dirty="0">
                <a:latin typeface="+mj-lt"/>
              </a:rPr>
              <a:t>()</a:t>
            </a:r>
            <a:endParaRPr lang="en-US" dirty="0"/>
          </a:p>
        </p:txBody>
      </p:sp>
    </p:spTree>
    <p:extLst>
      <p:ext uri="{BB962C8B-B14F-4D97-AF65-F5344CB8AC3E}">
        <p14:creationId xmlns:p14="http://schemas.microsoft.com/office/powerpoint/2010/main" val="580227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1B287-E1E1-3B04-A950-C6AEBF3B50DF}"/>
              </a:ext>
            </a:extLst>
          </p:cNvPr>
          <p:cNvSpPr>
            <a:spLocks noGrp="1"/>
          </p:cNvSpPr>
          <p:nvPr>
            <p:ph type="title"/>
          </p:nvPr>
        </p:nvSpPr>
        <p:spPr/>
        <p:txBody>
          <a:bodyPr/>
          <a:lstStyle/>
          <a:p>
            <a:r>
              <a:rPr lang="en-US" b="1" i="0" dirty="0">
                <a:effectLst/>
              </a:rPr>
              <a:t>Step 3: Build and Train a CNN Model</a:t>
            </a:r>
            <a:br>
              <a:rPr lang="en-US" b="1" i="0" dirty="0">
                <a:effectLst/>
              </a:rPr>
            </a:br>
            <a:endParaRPr lang="en-US" dirty="0"/>
          </a:p>
        </p:txBody>
      </p:sp>
      <p:sp>
        <p:nvSpPr>
          <p:cNvPr id="3" name="Text Placeholder 2">
            <a:extLst>
              <a:ext uri="{FF2B5EF4-FFF2-40B4-BE49-F238E27FC236}">
                <a16:creationId xmlns:a16="http://schemas.microsoft.com/office/drawing/2014/main" id="{70B0A2BE-3B55-7333-A4CD-3DDB2B2F800C}"/>
              </a:ext>
            </a:extLst>
          </p:cNvPr>
          <p:cNvSpPr>
            <a:spLocks noGrp="1"/>
          </p:cNvSpPr>
          <p:nvPr>
            <p:ph type="body" sz="quarter" idx="13"/>
          </p:nvPr>
        </p:nvSpPr>
        <p:spPr/>
        <p:txBody>
          <a:bodyPr/>
          <a:lstStyle/>
          <a:p>
            <a:r>
              <a:rPr lang="en-US" dirty="0"/>
              <a:t>Compile and Train the Model</a:t>
            </a:r>
          </a:p>
        </p:txBody>
      </p:sp>
      <p:sp>
        <p:nvSpPr>
          <p:cNvPr id="4" name="Content Placeholder 3">
            <a:extLst>
              <a:ext uri="{FF2B5EF4-FFF2-40B4-BE49-F238E27FC236}">
                <a16:creationId xmlns:a16="http://schemas.microsoft.com/office/drawing/2014/main" id="{A11A6325-10B7-B8CC-8BDC-98F643A1999E}"/>
              </a:ext>
            </a:extLst>
          </p:cNvPr>
          <p:cNvSpPr>
            <a:spLocks noGrp="1"/>
          </p:cNvSpPr>
          <p:nvPr>
            <p:ph sz="quarter" idx="15"/>
          </p:nvPr>
        </p:nvSpPr>
        <p:spPr/>
        <p:txBody>
          <a:bodyPr>
            <a:normAutofit fontScale="62500" lnSpcReduction="20000"/>
          </a:bodyPr>
          <a:lstStyle/>
          <a:p>
            <a:pPr marL="301752" lvl="1" indent="0">
              <a:buNone/>
            </a:pPr>
            <a:r>
              <a:rPr lang="en-US" i="1" dirty="0"/>
              <a:t>from </a:t>
            </a:r>
            <a:r>
              <a:rPr lang="en-US" i="1" dirty="0" err="1"/>
              <a:t>keras.callbacks</a:t>
            </a:r>
            <a:r>
              <a:rPr lang="en-US" i="1" dirty="0"/>
              <a:t> import </a:t>
            </a:r>
            <a:r>
              <a:rPr lang="en-US" i="1" dirty="0" err="1"/>
              <a:t>EarlyStopping</a:t>
            </a:r>
            <a:endParaRPr lang="en-US" i="1" dirty="0"/>
          </a:p>
          <a:p>
            <a:pPr marL="301752" lvl="1" indent="0">
              <a:buNone/>
            </a:pPr>
            <a:endParaRPr lang="en-US" dirty="0"/>
          </a:p>
          <a:p>
            <a:pPr lvl="1"/>
            <a:r>
              <a:rPr lang="en-US" dirty="0">
                <a:solidFill>
                  <a:schemeClr val="accent4"/>
                </a:solidFill>
              </a:rPr>
              <a:t> Compile the model</a:t>
            </a:r>
          </a:p>
          <a:p>
            <a:pPr lvl="2"/>
            <a:r>
              <a:rPr lang="en-US" dirty="0">
                <a:solidFill>
                  <a:schemeClr val="accent4"/>
                </a:solidFill>
              </a:rPr>
              <a:t>For classification:</a:t>
            </a:r>
          </a:p>
          <a:p>
            <a:pPr marL="594360" lvl="2" indent="0">
              <a:buNone/>
            </a:pPr>
            <a:r>
              <a:rPr lang="en-US" i="1" dirty="0" err="1"/>
              <a:t>model.compile</a:t>
            </a:r>
            <a:r>
              <a:rPr lang="en-US" i="1" dirty="0"/>
              <a:t>(loss='</a:t>
            </a:r>
            <a:r>
              <a:rPr lang="en-US" i="1" dirty="0" err="1"/>
              <a:t>categorical_crossentropy</a:t>
            </a:r>
            <a:r>
              <a:rPr lang="en-US" i="1" dirty="0"/>
              <a:t>', optimizer='</a:t>
            </a:r>
            <a:r>
              <a:rPr lang="en-US" i="1" dirty="0" err="1"/>
              <a:t>adam</a:t>
            </a:r>
            <a:r>
              <a:rPr lang="en-US" i="1" dirty="0"/>
              <a:t>', metrics=['accuracy’])</a:t>
            </a:r>
          </a:p>
          <a:p>
            <a:pPr lvl="2"/>
            <a:r>
              <a:rPr lang="en-US" dirty="0">
                <a:solidFill>
                  <a:schemeClr val="accent4"/>
                </a:solidFill>
              </a:rPr>
              <a:t>For regression</a:t>
            </a:r>
            <a:r>
              <a:rPr lang="en-US" dirty="0"/>
              <a:t>:</a:t>
            </a:r>
          </a:p>
          <a:p>
            <a:pPr marL="594360" lvl="2" indent="0">
              <a:buNone/>
            </a:pPr>
            <a:r>
              <a:rPr lang="en-US" i="1" dirty="0" err="1"/>
              <a:t>model.compile</a:t>
            </a:r>
            <a:r>
              <a:rPr lang="en-US" i="1" dirty="0"/>
              <a:t>(loss=‘</a:t>
            </a:r>
            <a:r>
              <a:rPr lang="en-US" i="1" dirty="0" err="1"/>
              <a:t>mse</a:t>
            </a:r>
            <a:r>
              <a:rPr lang="en-US" i="1" dirty="0"/>
              <a:t>', optimizer=‘</a:t>
            </a:r>
            <a:r>
              <a:rPr lang="en-US" i="1" dirty="0" err="1"/>
              <a:t>rmsprop</a:t>
            </a:r>
            <a:r>
              <a:rPr lang="en-US" i="1" dirty="0"/>
              <a:t>', metrics=[‘</a:t>
            </a:r>
            <a:r>
              <a:rPr lang="en-US" i="1" dirty="0" err="1"/>
              <a:t>mae</a:t>
            </a:r>
            <a:r>
              <a:rPr lang="en-US" i="1" dirty="0"/>
              <a:t>’])</a:t>
            </a:r>
          </a:p>
          <a:p>
            <a:pPr marL="594360" lvl="2" indent="0">
              <a:buNone/>
            </a:pPr>
            <a:endParaRPr lang="en-US" dirty="0"/>
          </a:p>
          <a:p>
            <a:pPr marL="301752" lvl="1" indent="0">
              <a:buNone/>
            </a:pPr>
            <a:endParaRPr lang="en-US" dirty="0"/>
          </a:p>
          <a:p>
            <a:pPr lvl="1"/>
            <a:r>
              <a:rPr lang="en-US" dirty="0">
                <a:solidFill>
                  <a:schemeClr val="accent4"/>
                </a:solidFill>
              </a:rPr>
              <a:t>Define early stopping callback</a:t>
            </a:r>
          </a:p>
          <a:p>
            <a:pPr marL="301752" lvl="1" indent="0">
              <a:buNone/>
            </a:pPr>
            <a:r>
              <a:rPr lang="en-US" i="1" dirty="0" err="1"/>
              <a:t>earlystop</a:t>
            </a:r>
            <a:r>
              <a:rPr lang="en-US" i="1" dirty="0"/>
              <a:t> = </a:t>
            </a:r>
            <a:r>
              <a:rPr lang="en-US" i="1" dirty="0" err="1"/>
              <a:t>EarlyStopping</a:t>
            </a:r>
            <a:r>
              <a:rPr lang="en-US" i="1" dirty="0"/>
              <a:t>(monitor='</a:t>
            </a:r>
            <a:r>
              <a:rPr lang="en-US" i="1" dirty="0" err="1"/>
              <a:t>val_loss</a:t>
            </a:r>
            <a:r>
              <a:rPr lang="en-US" i="1" dirty="0"/>
              <a:t>', </a:t>
            </a:r>
            <a:r>
              <a:rPr lang="en-US" i="1" dirty="0" err="1"/>
              <a:t>min_delta</a:t>
            </a:r>
            <a:r>
              <a:rPr lang="en-US" i="1" dirty="0"/>
              <a:t>=0.0001, patience=5, verbose=1, </a:t>
            </a:r>
            <a:r>
              <a:rPr lang="en-US" i="1" dirty="0" err="1"/>
              <a:t>restore_best_weights</a:t>
            </a:r>
            <a:r>
              <a:rPr lang="en-US" i="1" dirty="0"/>
              <a:t>=True)</a:t>
            </a:r>
          </a:p>
          <a:p>
            <a:pPr marL="301752" lvl="1" indent="0">
              <a:buNone/>
            </a:pPr>
            <a:endParaRPr lang="en-US" dirty="0"/>
          </a:p>
          <a:p>
            <a:pPr lvl="1"/>
            <a:r>
              <a:rPr lang="en-US" dirty="0">
                <a:solidFill>
                  <a:schemeClr val="accent4"/>
                </a:solidFill>
              </a:rPr>
              <a:t>Train the model</a:t>
            </a:r>
          </a:p>
          <a:p>
            <a:pPr marL="301752" lvl="1" indent="0">
              <a:buNone/>
            </a:pPr>
            <a:r>
              <a:rPr lang="en-US" i="1" dirty="0"/>
              <a:t>history = </a:t>
            </a:r>
            <a:r>
              <a:rPr lang="en-US" i="1" dirty="0" err="1"/>
              <a:t>model.fit</a:t>
            </a:r>
            <a:r>
              <a:rPr lang="en-US" i="1" dirty="0"/>
              <a:t>(</a:t>
            </a:r>
            <a:r>
              <a:rPr lang="en-US" i="1" dirty="0" err="1"/>
              <a:t>xtrain</a:t>
            </a:r>
            <a:r>
              <a:rPr lang="en-US" i="1" dirty="0"/>
              <a:t>, </a:t>
            </a:r>
            <a:r>
              <a:rPr lang="en-US" i="1" dirty="0" err="1"/>
              <a:t>ytrain</a:t>
            </a:r>
            <a:r>
              <a:rPr lang="en-US" i="1" dirty="0"/>
              <a:t>, </a:t>
            </a:r>
            <a:r>
              <a:rPr lang="en-US" i="1" dirty="0" err="1"/>
              <a:t>validation_data</a:t>
            </a:r>
            <a:r>
              <a:rPr lang="en-US" i="1" dirty="0"/>
              <a:t>=(</a:t>
            </a:r>
            <a:r>
              <a:rPr lang="en-US" i="1" dirty="0" err="1"/>
              <a:t>xtest</a:t>
            </a:r>
            <a:r>
              <a:rPr lang="en-US" i="1" dirty="0"/>
              <a:t>, </a:t>
            </a:r>
            <a:r>
              <a:rPr lang="en-US" i="1" dirty="0" err="1"/>
              <a:t>ytest</a:t>
            </a:r>
            <a:r>
              <a:rPr lang="en-US" i="1" dirty="0"/>
              <a:t>), epochs=100, </a:t>
            </a:r>
            <a:r>
              <a:rPr lang="en-US" i="1" dirty="0" err="1"/>
              <a:t>batch_size</a:t>
            </a:r>
            <a:r>
              <a:rPr lang="en-US" i="1" dirty="0"/>
              <a:t>=32, callbacks=[</a:t>
            </a:r>
            <a:r>
              <a:rPr lang="en-US" i="1" dirty="0" err="1"/>
              <a:t>earlystop</a:t>
            </a:r>
            <a:r>
              <a:rPr lang="en-US" i="1" dirty="0"/>
              <a:t>])</a:t>
            </a:r>
          </a:p>
          <a:p>
            <a:pPr marL="301752" lvl="1" indent="0">
              <a:buNone/>
            </a:pPr>
            <a:endParaRPr lang="en-US" dirty="0"/>
          </a:p>
          <a:p>
            <a:pPr lvl="1"/>
            <a:r>
              <a:rPr lang="en-US" dirty="0">
                <a:solidFill>
                  <a:schemeClr val="accent4"/>
                </a:solidFill>
              </a:rPr>
              <a:t>Evaluate the model</a:t>
            </a:r>
          </a:p>
          <a:p>
            <a:pPr marL="301752" lvl="1" indent="0">
              <a:buNone/>
            </a:pPr>
            <a:r>
              <a:rPr lang="en-US" i="1" dirty="0" err="1"/>
              <a:t>model.evaluate</a:t>
            </a:r>
            <a:r>
              <a:rPr lang="en-US" i="1" dirty="0"/>
              <a:t>(</a:t>
            </a:r>
            <a:r>
              <a:rPr lang="en-US" i="1" dirty="0" err="1"/>
              <a:t>xtest</a:t>
            </a:r>
            <a:r>
              <a:rPr lang="en-US" i="1" dirty="0"/>
              <a:t>, </a:t>
            </a:r>
            <a:r>
              <a:rPr lang="en-US" i="1" dirty="0" err="1"/>
              <a:t>ytest</a:t>
            </a:r>
            <a:r>
              <a:rPr lang="en-US" i="1" dirty="0"/>
              <a:t>)</a:t>
            </a:r>
          </a:p>
          <a:p>
            <a:pPr marL="301752" lvl="1" indent="0">
              <a:buNone/>
            </a:pPr>
            <a:endParaRPr lang="en-US" dirty="0"/>
          </a:p>
        </p:txBody>
      </p:sp>
    </p:spTree>
    <p:extLst>
      <p:ext uri="{BB962C8B-B14F-4D97-AF65-F5344CB8AC3E}">
        <p14:creationId xmlns:p14="http://schemas.microsoft.com/office/powerpoint/2010/main" val="558083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595AB-00E1-8CD5-D18E-789121B58953}"/>
              </a:ext>
            </a:extLst>
          </p:cNvPr>
          <p:cNvSpPr>
            <a:spLocks noGrp="1"/>
          </p:cNvSpPr>
          <p:nvPr>
            <p:ph type="title"/>
          </p:nvPr>
        </p:nvSpPr>
        <p:spPr/>
        <p:txBody>
          <a:bodyPr/>
          <a:lstStyle/>
          <a:p>
            <a:r>
              <a:rPr lang="en-US" sz="3600" b="1" i="0" dirty="0">
                <a:effectLst/>
              </a:rPr>
              <a:t>Step 4: Convert to TensorFlow Lite and Optimize for MPUs</a:t>
            </a:r>
            <a:br>
              <a:rPr lang="en-US" sz="3600" b="1" i="0" dirty="0">
                <a:effectLst/>
              </a:rPr>
            </a:br>
            <a:endParaRPr lang="en-US" sz="3600" dirty="0"/>
          </a:p>
        </p:txBody>
      </p:sp>
      <p:sp>
        <p:nvSpPr>
          <p:cNvPr id="4" name="Content Placeholder 3">
            <a:extLst>
              <a:ext uri="{FF2B5EF4-FFF2-40B4-BE49-F238E27FC236}">
                <a16:creationId xmlns:a16="http://schemas.microsoft.com/office/drawing/2014/main" id="{B3BF6DC5-53F4-DBFB-86C3-FDC79CEA904A}"/>
              </a:ext>
            </a:extLst>
          </p:cNvPr>
          <p:cNvSpPr>
            <a:spLocks noGrp="1"/>
          </p:cNvSpPr>
          <p:nvPr>
            <p:ph sz="quarter" idx="13"/>
          </p:nvPr>
        </p:nvSpPr>
        <p:spPr/>
        <p:txBody>
          <a:bodyPr>
            <a:noAutofit/>
          </a:bodyPr>
          <a:lstStyle/>
          <a:p>
            <a:r>
              <a:rPr lang="en-US" sz="1400" dirty="0">
                <a:solidFill>
                  <a:schemeClr val="accent4"/>
                </a:solidFill>
              </a:rPr>
              <a:t>Define a representative dataset function for quantization</a:t>
            </a:r>
          </a:p>
          <a:p>
            <a:pPr marL="301871" lvl="1" indent="0">
              <a:buNone/>
            </a:pPr>
            <a:r>
              <a:rPr lang="en-US" sz="1400" i="1" dirty="0"/>
              <a:t>def </a:t>
            </a:r>
            <a:r>
              <a:rPr lang="en-US" sz="1400" i="1" dirty="0" err="1"/>
              <a:t>representative_dataset</a:t>
            </a:r>
            <a:r>
              <a:rPr lang="en-US" sz="1400" i="1" dirty="0"/>
              <a:t>():</a:t>
            </a:r>
          </a:p>
          <a:p>
            <a:pPr marL="301871" lvl="1" indent="0">
              <a:buNone/>
            </a:pPr>
            <a:r>
              <a:rPr lang="en-US" sz="1400" i="1" dirty="0"/>
              <a:t>    for </a:t>
            </a:r>
            <a:r>
              <a:rPr lang="en-US" sz="1400" i="1" dirty="0" err="1"/>
              <a:t>i</a:t>
            </a:r>
            <a:r>
              <a:rPr lang="en-US" sz="1400" i="1" dirty="0"/>
              <a:t> in </a:t>
            </a:r>
            <a:r>
              <a:rPr lang="en-US" sz="1400" i="1" dirty="0" err="1"/>
              <a:t>x_scaled.index</a:t>
            </a:r>
            <a:r>
              <a:rPr lang="en-US" sz="1400" i="1" dirty="0"/>
              <a:t>:</a:t>
            </a:r>
          </a:p>
          <a:p>
            <a:pPr marL="301871" lvl="1" indent="0">
              <a:buNone/>
            </a:pPr>
            <a:r>
              <a:rPr lang="en-US" sz="1400" i="1" dirty="0"/>
              <a:t>        data = </a:t>
            </a:r>
            <a:r>
              <a:rPr lang="en-US" sz="1400" i="1" dirty="0" err="1"/>
              <a:t>x_scaled.iloc</a:t>
            </a:r>
            <a:r>
              <a:rPr lang="en-US" sz="1400" i="1" dirty="0"/>
              <a:t>[</a:t>
            </a:r>
            <a:r>
              <a:rPr lang="en-US" sz="1400" i="1" dirty="0" err="1"/>
              <a:t>i</a:t>
            </a:r>
            <a:r>
              <a:rPr lang="en-US" sz="1400" i="1" dirty="0"/>
              <a:t>].</a:t>
            </a:r>
            <a:r>
              <a:rPr lang="en-US" sz="1400" i="1" dirty="0" err="1"/>
              <a:t>to_numpy</a:t>
            </a:r>
            <a:r>
              <a:rPr lang="en-US" sz="1400" i="1" dirty="0"/>
              <a:t>()</a:t>
            </a:r>
          </a:p>
          <a:p>
            <a:pPr marL="301871" lvl="1" indent="0">
              <a:buNone/>
            </a:pPr>
            <a:r>
              <a:rPr lang="en-US" sz="1400" i="1" dirty="0"/>
              <a:t>        data = </a:t>
            </a:r>
            <a:r>
              <a:rPr lang="en-US" sz="1400" i="1" dirty="0" err="1"/>
              <a:t>data.reshape</a:t>
            </a:r>
            <a:r>
              <a:rPr lang="en-US" sz="1400" i="1" dirty="0"/>
              <a:t>(1, </a:t>
            </a:r>
            <a:r>
              <a:rPr lang="en-US" sz="1400" i="1" dirty="0" err="1"/>
              <a:t>data.shape</a:t>
            </a:r>
            <a:r>
              <a:rPr lang="en-US" sz="1400" i="1" dirty="0"/>
              <a:t>[0])</a:t>
            </a:r>
          </a:p>
          <a:p>
            <a:pPr marL="301871" lvl="1" indent="0">
              <a:buNone/>
            </a:pPr>
            <a:r>
              <a:rPr lang="en-US" sz="1400" i="1" dirty="0"/>
              <a:t>        yield [</a:t>
            </a:r>
            <a:r>
              <a:rPr lang="en-US" sz="1400" i="1" dirty="0" err="1"/>
              <a:t>data.astype</a:t>
            </a:r>
            <a:r>
              <a:rPr lang="en-US" sz="1400" i="1" dirty="0"/>
              <a:t>(np.float32)]</a:t>
            </a:r>
          </a:p>
          <a:p>
            <a:r>
              <a:rPr lang="en-US" sz="1400" dirty="0"/>
              <a:t> </a:t>
            </a:r>
            <a:r>
              <a:rPr lang="en-US" sz="1400" dirty="0">
                <a:solidFill>
                  <a:schemeClr val="accent4"/>
                </a:solidFill>
              </a:rPr>
              <a:t>Convert the model to TensorFlow Lite format</a:t>
            </a:r>
          </a:p>
          <a:p>
            <a:pPr marL="301871" lvl="1" indent="0">
              <a:buNone/>
            </a:pPr>
            <a:r>
              <a:rPr lang="en-US" sz="1400" i="1" dirty="0"/>
              <a:t>converter = </a:t>
            </a:r>
            <a:r>
              <a:rPr lang="en-US" sz="1400" i="1" dirty="0" err="1"/>
              <a:t>tf.lite.TFLiteConverter.from_saved_model</a:t>
            </a:r>
            <a:r>
              <a:rPr lang="en-US" sz="1400" i="1" dirty="0"/>
              <a:t>(SAVED_MODEL_FILENAME)</a:t>
            </a:r>
          </a:p>
          <a:p>
            <a:pPr marL="301871" lvl="1" indent="0">
              <a:buNone/>
            </a:pPr>
            <a:r>
              <a:rPr lang="en-US" sz="1400" i="1" dirty="0" err="1"/>
              <a:t>model_no_quant_tflite</a:t>
            </a:r>
            <a:r>
              <a:rPr lang="en-US" sz="1400" i="1" dirty="0"/>
              <a:t> = </a:t>
            </a:r>
            <a:r>
              <a:rPr lang="en-US" sz="1400" i="1" dirty="0" err="1"/>
              <a:t>converter.convert</a:t>
            </a:r>
            <a:r>
              <a:rPr lang="en-US" sz="1400" i="1" dirty="0"/>
              <a:t>()</a:t>
            </a:r>
          </a:p>
          <a:p>
            <a:r>
              <a:rPr lang="en-US" sz="1400" dirty="0">
                <a:solidFill>
                  <a:schemeClr val="accent4"/>
                </a:solidFill>
              </a:rPr>
              <a:t>Set the optimization flag for quantization</a:t>
            </a:r>
          </a:p>
          <a:p>
            <a:pPr marL="301871" lvl="1" indent="0">
              <a:buNone/>
            </a:pPr>
            <a:r>
              <a:rPr lang="en-US" sz="1400" i="1" dirty="0" err="1"/>
              <a:t>converter.optimizations</a:t>
            </a:r>
            <a:r>
              <a:rPr lang="en-US" sz="1400" i="1" dirty="0"/>
              <a:t> = [</a:t>
            </a:r>
            <a:r>
              <a:rPr lang="en-US" sz="1400" i="1" dirty="0" err="1"/>
              <a:t>tf.lite.Optimize.DEFAULT</a:t>
            </a:r>
            <a:r>
              <a:rPr lang="en-US" sz="1400" i="1" dirty="0"/>
              <a:t>]</a:t>
            </a:r>
          </a:p>
          <a:p>
            <a:pPr marL="301871" lvl="1" indent="0">
              <a:buNone/>
            </a:pPr>
            <a:r>
              <a:rPr lang="en-US" sz="1400" i="1" dirty="0" err="1"/>
              <a:t>converter.target_spec.supported_ops</a:t>
            </a:r>
            <a:r>
              <a:rPr lang="en-US" sz="1400" i="1" dirty="0"/>
              <a:t> = [tf.lite.OpsSet.TFLITE_BUILTINS_INT8]</a:t>
            </a:r>
          </a:p>
          <a:p>
            <a:pPr marL="301871" lvl="1" indent="0">
              <a:buNone/>
            </a:pPr>
            <a:r>
              <a:rPr lang="en-US" sz="1400" i="1" dirty="0" err="1"/>
              <a:t>converter.target_spec.supported_types</a:t>
            </a:r>
            <a:r>
              <a:rPr lang="en-US" sz="1400" i="1" dirty="0"/>
              <a:t> = [tf.int8]</a:t>
            </a:r>
          </a:p>
          <a:p>
            <a:pPr marL="301871" lvl="1" indent="0">
              <a:buNone/>
            </a:pPr>
            <a:r>
              <a:rPr lang="en-US" sz="1400" i="1" dirty="0" err="1"/>
              <a:t>converter.inference_input_type</a:t>
            </a:r>
            <a:r>
              <a:rPr lang="en-US" sz="1400" i="1" dirty="0"/>
              <a:t> = tf.int8</a:t>
            </a:r>
          </a:p>
          <a:p>
            <a:pPr marL="301871" lvl="1" indent="0">
              <a:buNone/>
            </a:pPr>
            <a:r>
              <a:rPr lang="en-US" sz="1400" i="1" dirty="0" err="1"/>
              <a:t>converter.inference_output_type</a:t>
            </a:r>
            <a:r>
              <a:rPr lang="en-US" sz="1400" i="1" dirty="0"/>
              <a:t> = tf.int8</a:t>
            </a:r>
          </a:p>
          <a:p>
            <a:pPr marL="301871" lvl="1" indent="0">
              <a:buNone/>
            </a:pPr>
            <a:r>
              <a:rPr lang="en-US" sz="1400" i="1" dirty="0" err="1"/>
              <a:t>converter.representative_dataset</a:t>
            </a:r>
            <a:r>
              <a:rPr lang="en-US" sz="1400" i="1" dirty="0"/>
              <a:t> = </a:t>
            </a:r>
            <a:r>
              <a:rPr lang="en-US" sz="1400" i="1" dirty="0" err="1"/>
              <a:t>representative_dataset</a:t>
            </a:r>
            <a:endParaRPr lang="en-US" sz="1400" i="1" dirty="0"/>
          </a:p>
          <a:p>
            <a:r>
              <a:rPr lang="en-US" sz="1400" dirty="0">
                <a:solidFill>
                  <a:schemeClr val="accent4"/>
                </a:solidFill>
              </a:rPr>
              <a:t>Convert the model with quantization</a:t>
            </a:r>
          </a:p>
          <a:p>
            <a:pPr marL="301871" lvl="1" indent="0">
              <a:buNone/>
            </a:pPr>
            <a:r>
              <a:rPr lang="en-US" sz="1400" i="1" dirty="0" err="1"/>
              <a:t>model_tflite</a:t>
            </a:r>
            <a:r>
              <a:rPr lang="en-US" sz="1400" i="1" dirty="0"/>
              <a:t> = </a:t>
            </a:r>
            <a:r>
              <a:rPr lang="en-US" sz="1400" i="1" dirty="0" err="1"/>
              <a:t>converter.convert</a:t>
            </a:r>
            <a:r>
              <a:rPr lang="en-US" sz="1400" i="1" dirty="0"/>
              <a:t>()</a:t>
            </a:r>
          </a:p>
          <a:p>
            <a:r>
              <a:rPr lang="en-US" sz="1400" dirty="0">
                <a:solidFill>
                  <a:schemeClr val="accent4"/>
                </a:solidFill>
              </a:rPr>
              <a:t>Save the quantized model to disk</a:t>
            </a:r>
          </a:p>
          <a:p>
            <a:pPr marL="301871" lvl="1" indent="0">
              <a:buNone/>
            </a:pPr>
            <a:r>
              <a:rPr lang="en-US" sz="1400" i="1" dirty="0"/>
              <a:t>open(QUANTIZED_TFL_MODEL_FILENAME, "</a:t>
            </a:r>
            <a:r>
              <a:rPr lang="en-US" sz="1400" i="1" dirty="0" err="1"/>
              <a:t>wb</a:t>
            </a:r>
            <a:r>
              <a:rPr lang="en-US" sz="1400" i="1" dirty="0"/>
              <a:t>").write(</a:t>
            </a:r>
            <a:r>
              <a:rPr lang="en-US" sz="1400" i="1" dirty="0" err="1"/>
              <a:t>model_tflite</a:t>
            </a:r>
            <a:r>
              <a:rPr lang="en-US" sz="1400" i="1" dirty="0"/>
              <a:t>)</a:t>
            </a:r>
          </a:p>
        </p:txBody>
      </p:sp>
    </p:spTree>
    <p:extLst>
      <p:ext uri="{BB962C8B-B14F-4D97-AF65-F5344CB8AC3E}">
        <p14:creationId xmlns:p14="http://schemas.microsoft.com/office/powerpoint/2010/main" val="22617185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32A86-5DEB-CD9C-1248-9D21EC33F0AC}"/>
              </a:ext>
            </a:extLst>
          </p:cNvPr>
          <p:cNvSpPr>
            <a:spLocks noGrp="1"/>
          </p:cNvSpPr>
          <p:nvPr>
            <p:ph type="title"/>
          </p:nvPr>
        </p:nvSpPr>
        <p:spPr/>
        <p:txBody>
          <a:bodyPr/>
          <a:lstStyle/>
          <a:p>
            <a:r>
              <a:rPr lang="en-US" sz="3600" dirty="0"/>
              <a:t>Step 5: Convert TensorFlow Lite Model to C Source File</a:t>
            </a:r>
            <a:br>
              <a:rPr lang="en-US" sz="3600" dirty="0"/>
            </a:br>
            <a:endParaRPr lang="en-US" sz="3600" dirty="0"/>
          </a:p>
        </p:txBody>
      </p:sp>
      <p:sp>
        <p:nvSpPr>
          <p:cNvPr id="3" name="Text Placeholder 2">
            <a:extLst>
              <a:ext uri="{FF2B5EF4-FFF2-40B4-BE49-F238E27FC236}">
                <a16:creationId xmlns:a16="http://schemas.microsoft.com/office/drawing/2014/main" id="{DFB39D36-47D3-A66C-241E-2AE2FEE704EE}"/>
              </a:ext>
            </a:extLst>
          </p:cNvPr>
          <p:cNvSpPr>
            <a:spLocks noGrp="1"/>
          </p:cNvSpPr>
          <p:nvPr>
            <p:ph type="body" sz="quarter" idx="13"/>
          </p:nvPr>
        </p:nvSpPr>
        <p:spPr/>
        <p:txBody>
          <a:bodyPr/>
          <a:lstStyle/>
          <a:p>
            <a:endParaRPr lang="en-US" dirty="0"/>
          </a:p>
        </p:txBody>
      </p:sp>
      <p:sp>
        <p:nvSpPr>
          <p:cNvPr id="4" name="Content Placeholder 3">
            <a:extLst>
              <a:ext uri="{FF2B5EF4-FFF2-40B4-BE49-F238E27FC236}">
                <a16:creationId xmlns:a16="http://schemas.microsoft.com/office/drawing/2014/main" id="{3CCC81FB-2DE2-CDB7-2360-312FF8D0A5EF}"/>
              </a:ext>
            </a:extLst>
          </p:cNvPr>
          <p:cNvSpPr>
            <a:spLocks noGrp="1"/>
          </p:cNvSpPr>
          <p:nvPr>
            <p:ph sz="quarter" idx="15"/>
          </p:nvPr>
        </p:nvSpPr>
        <p:spPr/>
        <p:txBody>
          <a:bodyPr/>
          <a:lstStyle/>
          <a:p>
            <a:pPr>
              <a:buFont typeface="Wingdings" panose="05000000000000000000" pitchFamily="2" charset="2"/>
              <a:buChar char="q"/>
            </a:pPr>
            <a:r>
              <a:rPr lang="en-US" dirty="0"/>
              <a:t> </a:t>
            </a:r>
            <a:r>
              <a:rPr lang="en-US" sz="1800" b="0" i="0" dirty="0">
                <a:effectLst/>
              </a:rPr>
              <a:t>The TensorFlow Lite model is converted to a C source file for integration with TensorFlow Lite for Microcontrollers.</a:t>
            </a:r>
          </a:p>
          <a:p>
            <a:pPr>
              <a:buFont typeface="Wingdings" panose="05000000000000000000" pitchFamily="2" charset="2"/>
              <a:buChar char="q"/>
            </a:pPr>
            <a:endParaRPr lang="en-US" sz="1800" b="0" dirty="0">
              <a:latin typeface="Roboto" panose="02000000000000000000" pitchFamily="2" charset="0"/>
            </a:endParaRPr>
          </a:p>
          <a:p>
            <a:pPr>
              <a:buFont typeface="Arial" panose="020B0604020202020204" pitchFamily="34" charset="0"/>
              <a:buChar char="•"/>
            </a:pPr>
            <a:r>
              <a:rPr lang="en-US" sz="1800" dirty="0">
                <a:solidFill>
                  <a:schemeClr val="accent4"/>
                </a:solidFill>
              </a:rPr>
              <a:t>Install </a:t>
            </a:r>
            <a:r>
              <a:rPr lang="en-US" sz="1800" dirty="0" err="1">
                <a:solidFill>
                  <a:schemeClr val="accent4"/>
                </a:solidFill>
              </a:rPr>
              <a:t>xxd</a:t>
            </a:r>
            <a:r>
              <a:rPr lang="en-US" sz="1800" dirty="0">
                <a:solidFill>
                  <a:schemeClr val="accent4"/>
                </a:solidFill>
              </a:rPr>
              <a:t> if it is not available</a:t>
            </a:r>
          </a:p>
          <a:p>
            <a:pPr marL="0" indent="0">
              <a:buNone/>
            </a:pPr>
            <a:r>
              <a:rPr lang="en-US" sz="1800" dirty="0"/>
              <a:t>	</a:t>
            </a:r>
            <a:r>
              <a:rPr lang="en-US" sz="1800" b="0" dirty="0"/>
              <a:t>!apt-get update &amp;&amp; apt-get -</a:t>
            </a:r>
            <a:r>
              <a:rPr lang="en-US" sz="1800" b="0" dirty="0" err="1"/>
              <a:t>qq</a:t>
            </a:r>
            <a:r>
              <a:rPr lang="en-US" sz="1800" b="0" dirty="0"/>
              <a:t> install </a:t>
            </a:r>
            <a:r>
              <a:rPr lang="en-US" sz="1800" b="0" dirty="0" err="1"/>
              <a:t>xxd</a:t>
            </a:r>
            <a:endParaRPr lang="en-US" sz="1800" b="0" dirty="0"/>
          </a:p>
          <a:p>
            <a:pPr>
              <a:buFont typeface="Wingdings" panose="05000000000000000000" pitchFamily="2" charset="2"/>
              <a:buChar char="q"/>
            </a:pPr>
            <a:endParaRPr lang="en-US" sz="1800" dirty="0"/>
          </a:p>
          <a:p>
            <a:r>
              <a:rPr lang="en-US" sz="1800" dirty="0"/>
              <a:t> </a:t>
            </a:r>
            <a:r>
              <a:rPr lang="en-US" sz="1800" dirty="0">
                <a:solidFill>
                  <a:schemeClr val="accent4"/>
                </a:solidFill>
              </a:rPr>
              <a:t>Convert the TensorFlow Lite model to a C source file</a:t>
            </a:r>
          </a:p>
          <a:p>
            <a:pPr marL="0" indent="0">
              <a:buNone/>
            </a:pPr>
            <a:r>
              <a:rPr lang="en-US" sz="1800" dirty="0"/>
              <a:t>	</a:t>
            </a:r>
            <a:r>
              <a:rPr lang="en-US" sz="1800" b="0" dirty="0"/>
              <a:t>!</a:t>
            </a:r>
            <a:r>
              <a:rPr lang="en-US" sz="1800" b="0" dirty="0" err="1"/>
              <a:t>xxd</a:t>
            </a:r>
            <a:r>
              <a:rPr lang="en-US" sz="1800" b="0" dirty="0"/>
              <a:t> -</a:t>
            </a:r>
            <a:r>
              <a:rPr lang="en-US" sz="1800" b="0" dirty="0" err="1"/>
              <a:t>i</a:t>
            </a:r>
            <a:r>
              <a:rPr lang="en-US" sz="1800" b="0" dirty="0"/>
              <a:t> {QUANTIZED_TFL_MODEL_FILENAME} {TFL_CC_MODEL_FILENAME}</a:t>
            </a:r>
          </a:p>
          <a:p>
            <a:pPr>
              <a:buFont typeface="Wingdings" panose="05000000000000000000" pitchFamily="2" charset="2"/>
              <a:buChar char="q"/>
            </a:pPr>
            <a:endParaRPr lang="en-US" sz="1800" dirty="0"/>
          </a:p>
          <a:p>
            <a:r>
              <a:rPr lang="en-US" sz="1800" dirty="0">
                <a:solidFill>
                  <a:schemeClr val="accent4"/>
                </a:solidFill>
              </a:rPr>
              <a:t>Print the source code</a:t>
            </a:r>
          </a:p>
          <a:p>
            <a:pPr marL="0" indent="0">
              <a:buNone/>
            </a:pPr>
            <a:r>
              <a:rPr lang="en-US" sz="1800" dirty="0"/>
              <a:t>	!cat </a:t>
            </a:r>
            <a:r>
              <a:rPr lang="en-US" sz="1800" b="0" dirty="0"/>
              <a:t>{TFL_CC_MODEL_FILENAME}</a:t>
            </a:r>
          </a:p>
          <a:p>
            <a:pPr>
              <a:buFont typeface="Wingdings" panose="05000000000000000000" pitchFamily="2" charset="2"/>
              <a:buChar char="q"/>
            </a:pPr>
            <a:endParaRPr lang="en-US" sz="1800" dirty="0"/>
          </a:p>
        </p:txBody>
      </p:sp>
    </p:spTree>
    <p:extLst>
      <p:ext uri="{BB962C8B-B14F-4D97-AF65-F5344CB8AC3E}">
        <p14:creationId xmlns:p14="http://schemas.microsoft.com/office/powerpoint/2010/main" val="2393533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4929D7-43E1-2D3A-BCCE-B33FA93C705A}"/>
              </a:ext>
            </a:extLst>
          </p:cNvPr>
          <p:cNvSpPr>
            <a:spLocks noGrp="1"/>
          </p:cNvSpPr>
          <p:nvPr>
            <p:ph type="title"/>
          </p:nvPr>
        </p:nvSpPr>
        <p:spPr/>
        <p:txBody>
          <a:bodyPr/>
          <a:lstStyle/>
          <a:p>
            <a:r>
              <a:rPr lang="en-US" dirty="0"/>
              <a:t>Step 6: Deploy the Model on a Microprocessor</a:t>
            </a:r>
            <a:br>
              <a:rPr lang="en-US" dirty="0"/>
            </a:br>
            <a:endParaRPr lang="en-US" dirty="0"/>
          </a:p>
        </p:txBody>
      </p:sp>
      <p:sp>
        <p:nvSpPr>
          <p:cNvPr id="4" name="Content Placeholder 3">
            <a:extLst>
              <a:ext uri="{FF2B5EF4-FFF2-40B4-BE49-F238E27FC236}">
                <a16:creationId xmlns:a16="http://schemas.microsoft.com/office/drawing/2014/main" id="{99C251AB-AB7E-832D-AEB4-EDB71C66BA82}"/>
              </a:ext>
            </a:extLst>
          </p:cNvPr>
          <p:cNvSpPr>
            <a:spLocks noGrp="1"/>
          </p:cNvSpPr>
          <p:nvPr>
            <p:ph sz="quarter" idx="15"/>
          </p:nvPr>
        </p:nvSpPr>
        <p:spPr/>
        <p:txBody>
          <a:bodyPr/>
          <a:lstStyle/>
          <a:p>
            <a:r>
              <a:rPr lang="en-US" b="1" dirty="0"/>
              <a:t>Include TensorFlow Lite Micro in Your Project</a:t>
            </a:r>
          </a:p>
          <a:p>
            <a:pPr lvl="1"/>
            <a:r>
              <a:rPr lang="en-US" dirty="0"/>
              <a:t>Download and add </a:t>
            </a:r>
            <a:r>
              <a:rPr lang="en-US" b="1" dirty="0"/>
              <a:t>TensorFlow Lite Micro</a:t>
            </a:r>
            <a:r>
              <a:rPr lang="en-US" dirty="0"/>
              <a:t> to your project.</a:t>
            </a:r>
          </a:p>
          <a:p>
            <a:pPr lvl="1"/>
            <a:r>
              <a:rPr lang="en-US" dirty="0"/>
              <a:t>Ensure necessary source files are included in your build system.</a:t>
            </a:r>
          </a:p>
          <a:p>
            <a:pPr lvl="1"/>
            <a:endParaRPr lang="en-US" dirty="0"/>
          </a:p>
          <a:p>
            <a:r>
              <a:rPr lang="en-US" b="1" dirty="0"/>
              <a:t>Load the </a:t>
            </a:r>
            <a:r>
              <a:rPr lang="en-US" b="1" dirty="0" err="1"/>
              <a:t>TFLite</a:t>
            </a:r>
            <a:r>
              <a:rPr lang="en-US" b="1" dirty="0"/>
              <a:t> Model in C++</a:t>
            </a:r>
          </a:p>
          <a:p>
            <a:pPr lvl="1"/>
            <a:r>
              <a:rPr lang="en-US" dirty="0"/>
              <a:t>Create a C++ file that:</a:t>
            </a:r>
          </a:p>
          <a:p>
            <a:pPr marL="1035558" lvl="2" indent="-285750">
              <a:buFont typeface="Arial" panose="020B0604020202020204" pitchFamily="34" charset="0"/>
              <a:buChar char="•"/>
            </a:pPr>
            <a:r>
              <a:rPr lang="en-US" dirty="0"/>
              <a:t>Includes your model as a C array</a:t>
            </a:r>
          </a:p>
          <a:p>
            <a:pPr marL="1035558" lvl="2" indent="-285750">
              <a:buFont typeface="Arial" panose="020B0604020202020204" pitchFamily="34" charset="0"/>
              <a:buChar char="•"/>
            </a:pPr>
            <a:r>
              <a:rPr lang="en-US" dirty="0"/>
              <a:t>Sets up the TensorFlow Lite Micro runtime</a:t>
            </a:r>
          </a:p>
          <a:p>
            <a:endParaRPr lang="en-US" dirty="0"/>
          </a:p>
        </p:txBody>
      </p:sp>
    </p:spTree>
    <p:extLst>
      <p:ext uri="{BB962C8B-B14F-4D97-AF65-F5344CB8AC3E}">
        <p14:creationId xmlns:p14="http://schemas.microsoft.com/office/powerpoint/2010/main" val="21108776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B4B2535-B039-17CB-9C02-A9B66052672E}"/>
              </a:ext>
            </a:extLst>
          </p:cNvPr>
          <p:cNvSpPr>
            <a:spLocks noGrp="1"/>
          </p:cNvSpPr>
          <p:nvPr>
            <p:ph type="body" sz="quarter" idx="13"/>
          </p:nvPr>
        </p:nvSpPr>
        <p:spPr>
          <a:xfrm>
            <a:off x="368603" y="199382"/>
            <a:ext cx="11400661" cy="428625"/>
          </a:xfrm>
        </p:spPr>
        <p:txBody>
          <a:bodyPr/>
          <a:lstStyle/>
          <a:p>
            <a:r>
              <a:rPr lang="en-US" dirty="0"/>
              <a:t>Example C++ Code</a:t>
            </a:r>
          </a:p>
        </p:txBody>
      </p:sp>
      <p:sp>
        <p:nvSpPr>
          <p:cNvPr id="4" name="Content Placeholder 3">
            <a:extLst>
              <a:ext uri="{FF2B5EF4-FFF2-40B4-BE49-F238E27FC236}">
                <a16:creationId xmlns:a16="http://schemas.microsoft.com/office/drawing/2014/main" id="{934673C0-35BE-5FA8-DD42-2532A28B8AA8}"/>
              </a:ext>
            </a:extLst>
          </p:cNvPr>
          <p:cNvSpPr>
            <a:spLocks noGrp="1"/>
          </p:cNvSpPr>
          <p:nvPr>
            <p:ph sz="quarter" idx="15"/>
          </p:nvPr>
        </p:nvSpPr>
        <p:spPr>
          <a:xfrm>
            <a:off x="408860" y="795379"/>
            <a:ext cx="6465343" cy="5267242"/>
          </a:xfrm>
        </p:spPr>
        <p:txBody>
          <a:bodyPr>
            <a:normAutofit fontScale="25000" lnSpcReduction="20000"/>
          </a:bodyPr>
          <a:lstStyle/>
          <a:p>
            <a:pPr marL="0" indent="0">
              <a:buNone/>
            </a:pPr>
            <a:r>
              <a:rPr lang="en-US" sz="5600" dirty="0"/>
              <a:t>#include "</a:t>
            </a:r>
            <a:r>
              <a:rPr lang="en-US" sz="5600" dirty="0" err="1"/>
              <a:t>tensorflow</a:t>
            </a:r>
            <a:r>
              <a:rPr lang="en-US" sz="5600" dirty="0"/>
              <a:t>/lite/micro/</a:t>
            </a:r>
            <a:r>
              <a:rPr lang="en-US" sz="5600" dirty="0" err="1"/>
              <a:t>all_ops_resolver.h</a:t>
            </a:r>
            <a:r>
              <a:rPr lang="en-US" sz="5600" dirty="0"/>
              <a:t>"</a:t>
            </a:r>
          </a:p>
          <a:p>
            <a:pPr marL="0" indent="0">
              <a:buNone/>
            </a:pPr>
            <a:r>
              <a:rPr lang="en-US" sz="5600" dirty="0"/>
              <a:t>#include "</a:t>
            </a:r>
            <a:r>
              <a:rPr lang="en-US" sz="5600" dirty="0" err="1"/>
              <a:t>tensorflow</a:t>
            </a:r>
            <a:r>
              <a:rPr lang="en-US" sz="5600" dirty="0"/>
              <a:t>/lite/micro/kernels/</a:t>
            </a:r>
            <a:r>
              <a:rPr lang="en-US" sz="5600" dirty="0" err="1"/>
              <a:t>micro_ops.h</a:t>
            </a:r>
            <a:r>
              <a:rPr lang="en-US" sz="5600" dirty="0"/>
              <a:t>"</a:t>
            </a:r>
          </a:p>
          <a:p>
            <a:pPr marL="0" indent="0">
              <a:buNone/>
            </a:pPr>
            <a:r>
              <a:rPr lang="en-US" sz="5600" dirty="0"/>
              <a:t>#include "</a:t>
            </a:r>
            <a:r>
              <a:rPr lang="en-US" sz="5600" dirty="0" err="1"/>
              <a:t>tensorflow</a:t>
            </a:r>
            <a:r>
              <a:rPr lang="en-US" sz="5600" dirty="0"/>
              <a:t>/lite/micro/</a:t>
            </a:r>
            <a:r>
              <a:rPr lang="en-US" sz="5600" dirty="0" err="1"/>
              <a:t>micro_error_reporter.h</a:t>
            </a:r>
            <a:r>
              <a:rPr lang="en-US" sz="5600" dirty="0"/>
              <a:t>"</a:t>
            </a:r>
          </a:p>
          <a:p>
            <a:pPr marL="0" indent="0">
              <a:buNone/>
            </a:pPr>
            <a:r>
              <a:rPr lang="en-US" sz="5600" dirty="0"/>
              <a:t>#include "</a:t>
            </a:r>
            <a:r>
              <a:rPr lang="en-US" sz="5600" dirty="0" err="1"/>
              <a:t>tensorflow</a:t>
            </a:r>
            <a:r>
              <a:rPr lang="en-US" sz="5600" dirty="0"/>
              <a:t>/lite/micro/</a:t>
            </a:r>
            <a:r>
              <a:rPr lang="en-US" sz="5600" dirty="0" err="1"/>
              <a:t>micro_interpreter.h</a:t>
            </a:r>
            <a:r>
              <a:rPr lang="en-US" sz="5600" dirty="0"/>
              <a:t>"</a:t>
            </a:r>
          </a:p>
          <a:p>
            <a:pPr marL="0" indent="0">
              <a:buNone/>
            </a:pPr>
            <a:r>
              <a:rPr lang="en-US" sz="5600" dirty="0"/>
              <a:t>#include "</a:t>
            </a:r>
            <a:r>
              <a:rPr lang="en-US" sz="5600" dirty="0" err="1"/>
              <a:t>tensorflow</a:t>
            </a:r>
            <a:r>
              <a:rPr lang="en-US" sz="5600" dirty="0"/>
              <a:t>/lite/schema/</a:t>
            </a:r>
            <a:r>
              <a:rPr lang="en-US" sz="5600" dirty="0" err="1"/>
              <a:t>schema_generated.h</a:t>
            </a:r>
            <a:r>
              <a:rPr lang="en-US" sz="5600" dirty="0"/>
              <a:t>"</a:t>
            </a:r>
          </a:p>
          <a:p>
            <a:pPr marL="0" indent="0">
              <a:buNone/>
            </a:pPr>
            <a:r>
              <a:rPr lang="en-US" sz="5600" dirty="0"/>
              <a:t>#include "</a:t>
            </a:r>
            <a:r>
              <a:rPr lang="en-US" sz="5600" dirty="0" err="1"/>
              <a:t>tensorflow</a:t>
            </a:r>
            <a:r>
              <a:rPr lang="en-US" sz="5600" dirty="0"/>
              <a:t>/lite/</a:t>
            </a:r>
            <a:r>
              <a:rPr lang="en-US" sz="5600" dirty="0" err="1"/>
              <a:t>version.h</a:t>
            </a:r>
            <a:r>
              <a:rPr lang="en-US" sz="5600" dirty="0"/>
              <a:t>"</a:t>
            </a:r>
          </a:p>
          <a:p>
            <a:endParaRPr lang="en-US" sz="5600" dirty="0"/>
          </a:p>
          <a:p>
            <a:pPr marL="0" indent="0">
              <a:buNone/>
            </a:pPr>
            <a:r>
              <a:rPr lang="en-US" sz="5600" dirty="0">
                <a:solidFill>
                  <a:schemeClr val="accent4"/>
                </a:solidFill>
              </a:rPr>
              <a:t>// Model data: Include your quantized model as a C array</a:t>
            </a:r>
          </a:p>
          <a:p>
            <a:pPr marL="0" indent="0">
              <a:buNone/>
            </a:pPr>
            <a:r>
              <a:rPr lang="en-US" sz="5600" dirty="0"/>
              <a:t>#include "mobilenet_v2_quantized_model_data.h"</a:t>
            </a:r>
          </a:p>
          <a:p>
            <a:endParaRPr lang="en-US" sz="5600" dirty="0"/>
          </a:p>
          <a:p>
            <a:pPr marL="0" indent="0">
              <a:buNone/>
            </a:pPr>
            <a:r>
              <a:rPr lang="en-US" sz="5600" dirty="0">
                <a:solidFill>
                  <a:schemeClr val="accent4"/>
                </a:solidFill>
              </a:rPr>
              <a:t>// Set up TensorFlow Lite Micro environment</a:t>
            </a:r>
          </a:p>
          <a:p>
            <a:pPr marL="0" indent="0">
              <a:buNone/>
            </a:pPr>
            <a:r>
              <a:rPr lang="en-US" sz="5600" dirty="0" err="1"/>
              <a:t>constexpr</a:t>
            </a:r>
            <a:r>
              <a:rPr lang="en-US" sz="5600" dirty="0"/>
              <a:t> int </a:t>
            </a:r>
            <a:r>
              <a:rPr lang="en-US" sz="5600" dirty="0" err="1"/>
              <a:t>kTensorArenaSize</a:t>
            </a:r>
            <a:r>
              <a:rPr lang="en-US" sz="5600" dirty="0"/>
              <a:t> = 10 * 1024;</a:t>
            </a:r>
          </a:p>
          <a:p>
            <a:pPr marL="0" indent="0">
              <a:buNone/>
            </a:pPr>
            <a:r>
              <a:rPr lang="en-US" sz="5600" dirty="0"/>
              <a:t>uint8_t </a:t>
            </a:r>
            <a:r>
              <a:rPr lang="en-US" sz="5600" dirty="0" err="1"/>
              <a:t>tensor_arena</a:t>
            </a:r>
            <a:r>
              <a:rPr lang="en-US" sz="5600" dirty="0"/>
              <a:t>[</a:t>
            </a:r>
            <a:r>
              <a:rPr lang="en-US" sz="5600" dirty="0" err="1"/>
              <a:t>kTensorArenaSize</a:t>
            </a:r>
            <a:r>
              <a:rPr lang="en-US" sz="5600" dirty="0"/>
              <a:t>];</a:t>
            </a:r>
          </a:p>
          <a:p>
            <a:pPr marL="0" indent="0">
              <a:lnSpc>
                <a:spcPct val="220000"/>
              </a:lnSpc>
              <a:buNone/>
            </a:pPr>
            <a:r>
              <a:rPr lang="en-US" sz="5600" dirty="0"/>
              <a:t>int main() {</a:t>
            </a:r>
          </a:p>
          <a:p>
            <a:pPr marL="0" indent="0">
              <a:lnSpc>
                <a:spcPct val="120000"/>
              </a:lnSpc>
              <a:buNone/>
            </a:pPr>
            <a:r>
              <a:rPr lang="en-US" sz="5600" dirty="0"/>
              <a:t>    static tflite::</a:t>
            </a:r>
            <a:r>
              <a:rPr lang="en-US" sz="5600" dirty="0" err="1"/>
              <a:t>MicroErrorReporter</a:t>
            </a:r>
            <a:r>
              <a:rPr lang="en-US" sz="5600" dirty="0"/>
              <a:t> </a:t>
            </a:r>
            <a:r>
              <a:rPr lang="en-US" sz="5600" dirty="0" err="1"/>
              <a:t>micro_error_reporter</a:t>
            </a:r>
            <a:r>
              <a:rPr lang="en-US" sz="5600" dirty="0"/>
              <a:t>;</a:t>
            </a:r>
          </a:p>
          <a:p>
            <a:pPr marL="0" indent="0">
              <a:lnSpc>
                <a:spcPct val="120000"/>
              </a:lnSpc>
              <a:buNone/>
            </a:pPr>
            <a:r>
              <a:rPr lang="en-US" sz="5600" dirty="0"/>
              <a:t>tflite::</a:t>
            </a:r>
            <a:r>
              <a:rPr lang="en-US" sz="5600" dirty="0" err="1"/>
              <a:t>ErrorReporter</a:t>
            </a:r>
            <a:r>
              <a:rPr lang="en-US" sz="5600" dirty="0"/>
              <a:t>* </a:t>
            </a:r>
            <a:r>
              <a:rPr lang="en-US" sz="5600" dirty="0" err="1"/>
              <a:t>error_reporter</a:t>
            </a:r>
            <a:r>
              <a:rPr lang="en-US" sz="5600" dirty="0"/>
              <a:t> = &amp;</a:t>
            </a:r>
            <a:r>
              <a:rPr lang="en-US" sz="5600" dirty="0" err="1"/>
              <a:t>micro_error_reporter</a:t>
            </a:r>
            <a:r>
              <a:rPr lang="en-US" sz="5600" dirty="0"/>
              <a:t>;</a:t>
            </a:r>
          </a:p>
          <a:p>
            <a:pPr marL="0" indent="0">
              <a:lnSpc>
                <a:spcPct val="120000"/>
              </a:lnSpc>
              <a:buNone/>
            </a:pPr>
            <a:r>
              <a:rPr lang="en-US" sz="5600" dirty="0"/>
              <a:t>const tflite::Model* model = tflite::</a:t>
            </a:r>
            <a:r>
              <a:rPr lang="en-US" sz="5600" dirty="0" err="1"/>
              <a:t>GetModel</a:t>
            </a:r>
            <a:r>
              <a:rPr lang="en-US" sz="5600" dirty="0"/>
              <a:t>(mobilenet_v2_quantized_model_data);</a:t>
            </a:r>
          </a:p>
          <a:p>
            <a:pPr marL="0" indent="0">
              <a:lnSpc>
                <a:spcPct val="120000"/>
              </a:lnSpc>
              <a:buNone/>
            </a:pPr>
            <a:endParaRPr lang="en-US" sz="5600" dirty="0"/>
          </a:p>
          <a:p>
            <a:pPr marL="0" indent="0">
              <a:lnSpc>
                <a:spcPct val="120000"/>
              </a:lnSpc>
              <a:buNone/>
            </a:pPr>
            <a:r>
              <a:rPr lang="en-US" sz="5600" dirty="0"/>
              <a:t>    static tflite::</a:t>
            </a:r>
            <a:r>
              <a:rPr lang="en-US" sz="5600" dirty="0" err="1"/>
              <a:t>MicroOpResolver</a:t>
            </a:r>
            <a:r>
              <a:rPr lang="en-US" sz="5600" dirty="0"/>
              <a:t>&lt;10&gt; </a:t>
            </a:r>
            <a:r>
              <a:rPr lang="en-US" sz="5600" dirty="0" err="1"/>
              <a:t>micro_op_resolver</a:t>
            </a:r>
            <a:r>
              <a:rPr lang="en-US" sz="5600" dirty="0"/>
              <a:t>;</a:t>
            </a:r>
          </a:p>
          <a:p>
            <a:pPr marL="0" indent="0">
              <a:lnSpc>
                <a:spcPct val="120000"/>
              </a:lnSpc>
              <a:buNone/>
            </a:pPr>
            <a:r>
              <a:rPr lang="en-US" sz="5600" dirty="0"/>
              <a:t>    </a:t>
            </a:r>
            <a:r>
              <a:rPr lang="en-US" sz="5600" dirty="0" err="1"/>
              <a:t>micro_op_resolver.AddBuiltin</a:t>
            </a:r>
            <a:r>
              <a:rPr lang="en-US" sz="5600" dirty="0"/>
              <a:t>(tflite::BuiltinOperator_DEPTHWISE_CONV_2D, tflite::ops::micro::Register_DEPTHWISE_CONV_2D());</a:t>
            </a:r>
          </a:p>
          <a:p>
            <a:pPr marL="0" indent="0">
              <a:lnSpc>
                <a:spcPct val="120000"/>
              </a:lnSpc>
              <a:buNone/>
            </a:pPr>
            <a:r>
              <a:rPr lang="en-US" sz="5600" dirty="0"/>
              <a:t>    </a:t>
            </a:r>
            <a:r>
              <a:rPr lang="en-US" sz="5600" dirty="0" err="1"/>
              <a:t>micro_op_resolver.AddBuiltin</a:t>
            </a:r>
            <a:r>
              <a:rPr lang="en-US" sz="5600" dirty="0"/>
              <a:t>(tflite::BuiltinOperator_CONV_2D, tflite::ops::micro::Register_CONV_2D());</a:t>
            </a:r>
          </a:p>
          <a:p>
            <a:pPr marL="0" indent="0">
              <a:buNone/>
            </a:pPr>
            <a:endParaRPr lang="en-US" dirty="0"/>
          </a:p>
          <a:p>
            <a:pPr marL="0" indent="0">
              <a:buNone/>
            </a:pPr>
            <a:r>
              <a:rPr lang="en-US" dirty="0"/>
              <a:t>    </a:t>
            </a:r>
          </a:p>
        </p:txBody>
      </p:sp>
      <p:sp>
        <p:nvSpPr>
          <p:cNvPr id="5" name="Content Placeholder 3">
            <a:extLst>
              <a:ext uri="{FF2B5EF4-FFF2-40B4-BE49-F238E27FC236}">
                <a16:creationId xmlns:a16="http://schemas.microsoft.com/office/drawing/2014/main" id="{D5DC689D-DD03-14A6-115F-EE7C3C8A39DA}"/>
              </a:ext>
            </a:extLst>
          </p:cNvPr>
          <p:cNvSpPr txBox="1">
            <a:spLocks/>
          </p:cNvSpPr>
          <p:nvPr/>
        </p:nvSpPr>
        <p:spPr>
          <a:xfrm>
            <a:off x="7115742" y="1134674"/>
            <a:ext cx="4800212" cy="5267242"/>
          </a:xfrm>
          <a:prstGeom prst="rect">
            <a:avLst/>
          </a:prstGeom>
        </p:spPr>
        <p:txBody>
          <a:bodyPr vert="horz" lIns="121888" tIns="60944" rIns="121888" bIns="60944" rtlCol="0">
            <a:normAutofit fontScale="47500" lnSpcReduction="20000"/>
          </a:bodyPr>
          <a:lstStyle>
            <a:lvl1pPr marL="274201" indent="-274201" algn="l" defTabSz="609443" rtl="0" eaLnBrk="1" latinLnBrk="0" hangingPunct="1">
              <a:spcBef>
                <a:spcPts val="300"/>
              </a:spcBef>
              <a:buClr>
                <a:srgbClr val="0E3689"/>
              </a:buClr>
              <a:buFont typeface="Arial"/>
              <a:buChar char="•"/>
              <a:defRPr sz="3200" b="1" kern="1200">
                <a:solidFill>
                  <a:srgbClr val="070707"/>
                </a:solidFill>
                <a:latin typeface="+mn-lt"/>
                <a:ea typeface="+mn-ea"/>
                <a:cs typeface="+mn-cs"/>
              </a:defRPr>
            </a:lvl1pPr>
            <a:lvl2pPr marL="576072" indent="-274320" algn="l" defTabSz="609443" rtl="0" eaLnBrk="1" latinLnBrk="0" hangingPunct="1">
              <a:spcBef>
                <a:spcPts val="300"/>
              </a:spcBef>
              <a:buClr>
                <a:srgbClr val="1D9CE4"/>
              </a:buClr>
              <a:buFont typeface="Arial" panose="020B0604020202020204" pitchFamily="34" charset="0"/>
              <a:buChar char="•"/>
              <a:defRPr sz="2800" kern="1200">
                <a:solidFill>
                  <a:srgbClr val="070707"/>
                </a:solidFill>
                <a:latin typeface="+mn-lt"/>
                <a:ea typeface="+mn-ea"/>
                <a:cs typeface="+mn-cs"/>
              </a:defRPr>
            </a:lvl2pPr>
            <a:lvl3pPr marL="868680" indent="-274320" algn="l" defTabSz="609443" rtl="0" eaLnBrk="1" latinLnBrk="0" hangingPunct="1">
              <a:spcBef>
                <a:spcPts val="300"/>
              </a:spcBef>
              <a:buClr>
                <a:srgbClr val="1D9CE4"/>
              </a:buClr>
              <a:buFont typeface="Arial"/>
              <a:buChar char="•"/>
              <a:defRPr sz="2400" kern="1200">
                <a:solidFill>
                  <a:srgbClr val="070707"/>
                </a:solidFill>
                <a:latin typeface="+mn-lt"/>
                <a:ea typeface="+mn-ea"/>
                <a:cs typeface="+mn-cs"/>
              </a:defRPr>
            </a:lvl3pPr>
            <a:lvl4pPr marL="1143000"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4pPr>
            <a:lvl5pPr marL="1435608" indent="-274320" algn="l" defTabSz="609443" rtl="0" eaLnBrk="1" latinLnBrk="0" hangingPunct="1">
              <a:spcBef>
                <a:spcPts val="300"/>
              </a:spcBef>
              <a:buClr>
                <a:srgbClr val="1D9CE4"/>
              </a:buClr>
              <a:buFont typeface="Arial" panose="020B0604020202020204" pitchFamily="34" charset="0"/>
              <a:buChar char="•"/>
              <a:defRPr sz="2000" kern="1200">
                <a:solidFill>
                  <a:srgbClr val="070707"/>
                </a:solidFill>
                <a:latin typeface="+mn-lt"/>
                <a:ea typeface="+mn-ea"/>
                <a:cs typeface="+mn-cs"/>
              </a:defRPr>
            </a:lvl5pPr>
            <a:lvl6pPr marL="3351933" indent="-304723" algn="l" defTabSz="609443" rtl="0" eaLnBrk="1" latinLnBrk="0" hangingPunct="1">
              <a:spcBef>
                <a:spcPct val="20000"/>
              </a:spcBef>
              <a:buFont typeface="Arial"/>
              <a:buChar char="•"/>
              <a:defRPr sz="2700" kern="1200">
                <a:solidFill>
                  <a:schemeClr val="tx1"/>
                </a:solidFill>
                <a:latin typeface="+mn-lt"/>
                <a:ea typeface="+mn-ea"/>
                <a:cs typeface="+mn-cs"/>
              </a:defRPr>
            </a:lvl6pPr>
            <a:lvl7pPr marL="3961376" indent="-304723" algn="l" defTabSz="609443" rtl="0" eaLnBrk="1" latinLnBrk="0" hangingPunct="1">
              <a:spcBef>
                <a:spcPct val="20000"/>
              </a:spcBef>
              <a:buFont typeface="Arial"/>
              <a:buChar char="•"/>
              <a:defRPr sz="2700" kern="1200">
                <a:solidFill>
                  <a:schemeClr val="tx1"/>
                </a:solidFill>
                <a:latin typeface="+mn-lt"/>
                <a:ea typeface="+mn-ea"/>
                <a:cs typeface="+mn-cs"/>
              </a:defRPr>
            </a:lvl7pPr>
            <a:lvl8pPr marL="4570819" indent="-304723" algn="l" defTabSz="609443" rtl="0" eaLnBrk="1" latinLnBrk="0" hangingPunct="1">
              <a:spcBef>
                <a:spcPct val="20000"/>
              </a:spcBef>
              <a:buFont typeface="Arial"/>
              <a:buChar char="•"/>
              <a:defRPr sz="2700" kern="1200">
                <a:solidFill>
                  <a:schemeClr val="tx1"/>
                </a:solidFill>
                <a:latin typeface="+mn-lt"/>
                <a:ea typeface="+mn-ea"/>
                <a:cs typeface="+mn-cs"/>
              </a:defRPr>
            </a:lvl8pPr>
            <a:lvl9pPr marL="5180261" indent="-304723" algn="l" defTabSz="609443" rtl="0" eaLnBrk="1" latinLnBrk="0" hangingPunct="1">
              <a:spcBef>
                <a:spcPct val="20000"/>
              </a:spcBef>
              <a:buFont typeface="Arial"/>
              <a:buChar char="•"/>
              <a:defRPr sz="2700" kern="1200">
                <a:solidFill>
                  <a:schemeClr val="tx1"/>
                </a:solidFill>
                <a:latin typeface="+mn-lt"/>
                <a:ea typeface="+mn-ea"/>
                <a:cs typeface="+mn-cs"/>
              </a:defRPr>
            </a:lvl9pPr>
          </a:lstStyle>
          <a:p>
            <a:pPr marL="0" indent="0">
              <a:buNone/>
            </a:pPr>
            <a:r>
              <a:rPr lang="en-US" dirty="0"/>
              <a:t>tflite::</a:t>
            </a:r>
            <a:r>
              <a:rPr lang="en-US" dirty="0" err="1"/>
              <a:t>MicroInterpreter</a:t>
            </a:r>
            <a:r>
              <a:rPr lang="en-US" dirty="0"/>
              <a:t> interpreter(model, </a:t>
            </a:r>
            <a:r>
              <a:rPr lang="en-US" dirty="0" err="1"/>
              <a:t>micro_op_resolver</a:t>
            </a:r>
            <a:r>
              <a:rPr lang="en-US" dirty="0"/>
              <a:t>, </a:t>
            </a:r>
            <a:r>
              <a:rPr lang="en-US" dirty="0" err="1"/>
              <a:t>tensor_arena</a:t>
            </a:r>
            <a:r>
              <a:rPr lang="en-US" dirty="0"/>
              <a:t>, </a:t>
            </a:r>
            <a:r>
              <a:rPr lang="en-US" dirty="0" err="1"/>
              <a:t>kTensorArenaSize</a:t>
            </a:r>
            <a:r>
              <a:rPr lang="en-US" dirty="0"/>
              <a:t>, </a:t>
            </a:r>
            <a:r>
              <a:rPr lang="en-US" dirty="0" err="1"/>
              <a:t>error_reporter</a:t>
            </a:r>
            <a:r>
              <a:rPr lang="en-US" dirty="0"/>
              <a:t>);</a:t>
            </a:r>
          </a:p>
          <a:p>
            <a:pPr marL="0" indent="0">
              <a:buNone/>
            </a:pPr>
            <a:endParaRPr lang="en-US" dirty="0"/>
          </a:p>
          <a:p>
            <a:pPr marL="0" indent="0">
              <a:buNone/>
            </a:pPr>
            <a:r>
              <a:rPr lang="en-US" dirty="0"/>
              <a:t>    </a:t>
            </a:r>
            <a:r>
              <a:rPr lang="en-US" dirty="0" err="1"/>
              <a:t>interpreter.AllocateTensors</a:t>
            </a:r>
            <a:r>
              <a:rPr lang="en-US" dirty="0"/>
              <a:t>();</a:t>
            </a:r>
          </a:p>
          <a:p>
            <a:pPr marL="0" indent="0">
              <a:buNone/>
            </a:pPr>
            <a:endParaRPr lang="en-US" dirty="0"/>
          </a:p>
          <a:p>
            <a:pPr marL="0" indent="0">
              <a:buNone/>
            </a:pPr>
            <a:r>
              <a:rPr lang="en-US" dirty="0"/>
              <a:t>    </a:t>
            </a:r>
            <a:r>
              <a:rPr lang="en-US" dirty="0">
                <a:solidFill>
                  <a:schemeClr val="accent4"/>
                </a:solidFill>
              </a:rPr>
              <a:t>// Set input and run inference</a:t>
            </a:r>
          </a:p>
          <a:p>
            <a:pPr marL="0" indent="0">
              <a:buNone/>
            </a:pPr>
            <a:r>
              <a:rPr lang="en-US" dirty="0"/>
              <a:t>    </a:t>
            </a:r>
            <a:r>
              <a:rPr lang="en-US" dirty="0" err="1"/>
              <a:t>TfLiteTensor</a:t>
            </a:r>
            <a:r>
              <a:rPr lang="en-US" dirty="0"/>
              <a:t>* input = </a:t>
            </a:r>
            <a:r>
              <a:rPr lang="en-US" dirty="0" err="1"/>
              <a:t>interpreter.input</a:t>
            </a:r>
            <a:r>
              <a:rPr lang="en-US" dirty="0"/>
              <a:t>(0);</a:t>
            </a:r>
          </a:p>
          <a:p>
            <a:pPr marL="0" indent="0">
              <a:buNone/>
            </a:pPr>
            <a:r>
              <a:rPr lang="en-US" dirty="0"/>
              <a:t>    // Fill input data (e.g., input-&gt;</a:t>
            </a:r>
            <a:r>
              <a:rPr lang="en-US" dirty="0" err="1"/>
              <a:t>data.f</a:t>
            </a:r>
            <a:r>
              <a:rPr lang="en-US" dirty="0"/>
              <a:t>[0] = ...)</a:t>
            </a:r>
          </a:p>
          <a:p>
            <a:pPr marL="0" indent="0">
              <a:buNone/>
            </a:pPr>
            <a:r>
              <a:rPr lang="en-US" dirty="0"/>
              <a:t>    </a:t>
            </a:r>
          </a:p>
          <a:p>
            <a:pPr marL="0" indent="0">
              <a:buNone/>
            </a:pPr>
            <a:r>
              <a:rPr lang="en-US" dirty="0"/>
              <a:t>    if (</a:t>
            </a:r>
            <a:r>
              <a:rPr lang="en-US" dirty="0" err="1"/>
              <a:t>interpreter.Invoke</a:t>
            </a:r>
            <a:r>
              <a:rPr lang="en-US" dirty="0"/>
              <a:t>() != </a:t>
            </a:r>
            <a:r>
              <a:rPr lang="en-US" dirty="0" err="1"/>
              <a:t>kTfLiteOk</a:t>
            </a:r>
            <a:r>
              <a:rPr lang="en-US" dirty="0"/>
              <a:t>) {</a:t>
            </a:r>
          </a:p>
          <a:p>
            <a:pPr marL="0" indent="0">
              <a:buNone/>
            </a:pPr>
            <a:r>
              <a:rPr lang="en-US" dirty="0"/>
              <a:t>        </a:t>
            </a:r>
            <a:r>
              <a:rPr lang="en-US" dirty="0" err="1"/>
              <a:t>error_reporter</a:t>
            </a:r>
            <a:r>
              <a:rPr lang="en-US" dirty="0"/>
              <a:t>-&gt;Report("Invoke failed.");</a:t>
            </a:r>
          </a:p>
          <a:p>
            <a:pPr marL="0" indent="0">
              <a:buNone/>
            </a:pPr>
            <a:r>
              <a:rPr lang="en-US" dirty="0"/>
              <a:t>    }</a:t>
            </a:r>
          </a:p>
          <a:p>
            <a:pPr marL="0" indent="0">
              <a:buNone/>
            </a:pPr>
            <a:endParaRPr lang="en-US" dirty="0"/>
          </a:p>
          <a:p>
            <a:pPr marL="0" indent="0">
              <a:buNone/>
            </a:pPr>
            <a:r>
              <a:rPr lang="en-US" dirty="0"/>
              <a:t>    </a:t>
            </a:r>
            <a:r>
              <a:rPr lang="en-US" dirty="0">
                <a:solidFill>
                  <a:schemeClr val="accent4"/>
                </a:solidFill>
              </a:rPr>
              <a:t>// Process the output</a:t>
            </a:r>
          </a:p>
          <a:p>
            <a:pPr marL="0" indent="0">
              <a:buNone/>
            </a:pPr>
            <a:r>
              <a:rPr lang="en-US" dirty="0"/>
              <a:t>    </a:t>
            </a:r>
            <a:r>
              <a:rPr lang="en-US" dirty="0" err="1"/>
              <a:t>TfLiteTensor</a:t>
            </a:r>
            <a:r>
              <a:rPr lang="en-US" dirty="0"/>
              <a:t>* output = </a:t>
            </a:r>
            <a:r>
              <a:rPr lang="en-US" dirty="0" err="1"/>
              <a:t>interpreter.output</a:t>
            </a:r>
            <a:r>
              <a:rPr lang="en-US" dirty="0"/>
              <a:t>(0);</a:t>
            </a:r>
          </a:p>
          <a:p>
            <a:pPr marL="0" indent="0">
              <a:buNone/>
            </a:pPr>
            <a:r>
              <a:rPr lang="en-US" dirty="0"/>
              <a:t>    </a:t>
            </a:r>
            <a:r>
              <a:rPr lang="en-US" dirty="0">
                <a:solidFill>
                  <a:schemeClr val="accent4"/>
                </a:solidFill>
              </a:rPr>
              <a:t>// Read output (e.g., float </a:t>
            </a:r>
            <a:r>
              <a:rPr lang="en-US" dirty="0" err="1">
                <a:solidFill>
                  <a:schemeClr val="accent4"/>
                </a:solidFill>
              </a:rPr>
              <a:t>output_value</a:t>
            </a:r>
            <a:r>
              <a:rPr lang="en-US" dirty="0">
                <a:solidFill>
                  <a:schemeClr val="accent4"/>
                </a:solidFill>
              </a:rPr>
              <a:t> = output-&gt;</a:t>
            </a:r>
            <a:r>
              <a:rPr lang="en-US" dirty="0" err="1">
                <a:solidFill>
                  <a:schemeClr val="accent4"/>
                </a:solidFill>
              </a:rPr>
              <a:t>data.f</a:t>
            </a:r>
            <a:r>
              <a:rPr lang="en-US" dirty="0">
                <a:solidFill>
                  <a:schemeClr val="accent4"/>
                </a:solidFill>
              </a:rPr>
              <a:t>[0];)</a:t>
            </a:r>
          </a:p>
          <a:p>
            <a:pPr marL="0" indent="0">
              <a:buNone/>
            </a:pPr>
            <a:endParaRPr lang="en-US" dirty="0">
              <a:solidFill>
                <a:schemeClr val="accent4"/>
              </a:solidFill>
            </a:endParaRPr>
          </a:p>
          <a:p>
            <a:pPr marL="0" indent="0">
              <a:buNone/>
            </a:pPr>
            <a:r>
              <a:rPr lang="en-US" dirty="0"/>
              <a:t>    return 0;</a:t>
            </a:r>
          </a:p>
          <a:p>
            <a:pPr marL="0" indent="0">
              <a:buNone/>
            </a:pPr>
            <a:r>
              <a:rPr lang="en-US" dirty="0"/>
              <a:t>}</a:t>
            </a:r>
          </a:p>
          <a:p>
            <a:endParaRPr lang="en-US" dirty="0"/>
          </a:p>
        </p:txBody>
      </p:sp>
    </p:spTree>
    <p:extLst>
      <p:ext uri="{BB962C8B-B14F-4D97-AF65-F5344CB8AC3E}">
        <p14:creationId xmlns:p14="http://schemas.microsoft.com/office/powerpoint/2010/main" val="3807800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8F563-FDF7-0545-E7E5-51C4DF886C53}"/>
              </a:ext>
            </a:extLst>
          </p:cNvPr>
          <p:cNvSpPr>
            <a:spLocks noGrp="1"/>
          </p:cNvSpPr>
          <p:nvPr>
            <p:ph type="title"/>
          </p:nvPr>
        </p:nvSpPr>
        <p:spPr/>
        <p:txBody>
          <a:bodyPr/>
          <a:lstStyle/>
          <a:p>
            <a:r>
              <a:rPr lang="en-US" dirty="0"/>
              <a:t>Reference Code &amp; Porting</a:t>
            </a:r>
          </a:p>
        </p:txBody>
      </p:sp>
      <p:sp>
        <p:nvSpPr>
          <p:cNvPr id="3" name="Content Placeholder 2">
            <a:extLst>
              <a:ext uri="{FF2B5EF4-FFF2-40B4-BE49-F238E27FC236}">
                <a16:creationId xmlns:a16="http://schemas.microsoft.com/office/drawing/2014/main" id="{86BD0D6F-0D97-C2D1-0AA1-6096C1A92EA4}"/>
              </a:ext>
            </a:extLst>
          </p:cNvPr>
          <p:cNvSpPr>
            <a:spLocks noGrp="1"/>
          </p:cNvSpPr>
          <p:nvPr>
            <p:ph sz="quarter" idx="13"/>
          </p:nvPr>
        </p:nvSpPr>
        <p:spPr/>
        <p:txBody>
          <a:bodyPr/>
          <a:lstStyle/>
          <a:p>
            <a:r>
              <a:rPr lang="en-US" dirty="0">
                <a:hlinkClick r:id="rId2"/>
              </a:rPr>
              <a:t>https://github.com/swapna-gg1/tfliteExamples</a:t>
            </a:r>
            <a:endParaRPr lang="en-US" dirty="0"/>
          </a:p>
          <a:p>
            <a:r>
              <a:rPr lang="en-US" dirty="0"/>
              <a:t>To port a different model:</a:t>
            </a:r>
          </a:p>
          <a:p>
            <a:pPr lvl="1"/>
            <a:r>
              <a:rPr lang="en-US" dirty="0"/>
              <a:t>Replace </a:t>
            </a:r>
            <a:r>
              <a:rPr lang="en-US" dirty="0" err="1"/>
              <a:t>src</a:t>
            </a:r>
            <a:r>
              <a:rPr lang="en-US" dirty="0"/>
              <a:t>/modelHW.cpp &amp; </a:t>
            </a:r>
            <a:r>
              <a:rPr lang="en-US" dirty="0" err="1"/>
              <a:t>src</a:t>
            </a:r>
            <a:r>
              <a:rPr lang="en-US" dirty="0"/>
              <a:t>/</a:t>
            </a:r>
            <a:r>
              <a:rPr lang="en-US" dirty="0" err="1"/>
              <a:t>modelHW.h</a:t>
            </a:r>
            <a:r>
              <a:rPr lang="en-US" dirty="0"/>
              <a:t> with your model</a:t>
            </a:r>
          </a:p>
          <a:p>
            <a:pPr lvl="1"/>
            <a:r>
              <a:rPr lang="en-US" dirty="0"/>
              <a:t>Replace </a:t>
            </a:r>
            <a:r>
              <a:rPr lang="en-US" dirty="0" err="1"/>
              <a:t>src</a:t>
            </a:r>
            <a:r>
              <a:rPr lang="en-US" dirty="0"/>
              <a:t>/mlapp_HW.cpp with your application code</a:t>
            </a:r>
          </a:p>
          <a:p>
            <a:pPr lvl="1"/>
            <a:r>
              <a:rPr lang="en-US" dirty="0"/>
              <a:t>You may have some missing 3</a:t>
            </a:r>
            <a:r>
              <a:rPr lang="en-US" baseline="30000" dirty="0"/>
              <a:t>rd</a:t>
            </a:r>
            <a:r>
              <a:rPr lang="en-US" dirty="0"/>
              <a:t> party libraries required by your model that you need </a:t>
            </a:r>
            <a:r>
              <a:rPr lang="en-US"/>
              <a:t>to integrate</a:t>
            </a:r>
            <a:endParaRPr lang="en-US" dirty="0"/>
          </a:p>
        </p:txBody>
      </p:sp>
    </p:spTree>
    <p:extLst>
      <p:ext uri="{BB962C8B-B14F-4D97-AF65-F5344CB8AC3E}">
        <p14:creationId xmlns:p14="http://schemas.microsoft.com/office/powerpoint/2010/main" val="14599402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38590-31E2-1588-C418-9CA52D83CC8A}"/>
              </a:ext>
            </a:extLst>
          </p:cNvPr>
          <p:cNvSpPr>
            <a:spLocks noGrp="1"/>
          </p:cNvSpPr>
          <p:nvPr>
            <p:ph type="title"/>
          </p:nvPr>
        </p:nvSpPr>
        <p:spPr/>
        <p:txBody>
          <a:bodyPr/>
          <a:lstStyle/>
          <a:p>
            <a:r>
              <a:rPr lang="en-US" dirty="0"/>
              <a:t>Other Resources</a:t>
            </a:r>
          </a:p>
        </p:txBody>
      </p:sp>
      <p:sp>
        <p:nvSpPr>
          <p:cNvPr id="3" name="Content Placeholder 2">
            <a:extLst>
              <a:ext uri="{FF2B5EF4-FFF2-40B4-BE49-F238E27FC236}">
                <a16:creationId xmlns:a16="http://schemas.microsoft.com/office/drawing/2014/main" id="{DB1AB511-67B8-252C-5ACB-F37AF81F3F6E}"/>
              </a:ext>
            </a:extLst>
          </p:cNvPr>
          <p:cNvSpPr>
            <a:spLocks noGrp="1"/>
          </p:cNvSpPr>
          <p:nvPr>
            <p:ph sz="quarter" idx="13"/>
          </p:nvPr>
        </p:nvSpPr>
        <p:spPr/>
        <p:txBody>
          <a:bodyPr/>
          <a:lstStyle/>
          <a:p>
            <a:r>
              <a:rPr lang="en-US" dirty="0"/>
              <a:t>https://github.com/tensorflow/tflite-micro/blob/main/tensorflow/lite/micro/examples/person_detection/training_a_model.md</a:t>
            </a:r>
          </a:p>
        </p:txBody>
      </p:sp>
    </p:spTree>
    <p:extLst>
      <p:ext uri="{BB962C8B-B14F-4D97-AF65-F5344CB8AC3E}">
        <p14:creationId xmlns:p14="http://schemas.microsoft.com/office/powerpoint/2010/main" val="14179507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2B7E5-C8E3-6E1A-4FB7-D5EA2DA26C12}"/>
              </a:ext>
            </a:extLst>
          </p:cNvPr>
          <p:cNvSpPr>
            <a:spLocks noGrp="1"/>
          </p:cNvSpPr>
          <p:nvPr>
            <p:ph sz="quarter" idx="13"/>
          </p:nvPr>
        </p:nvSpPr>
        <p:spPr/>
        <p:txBody>
          <a:bodyPr>
            <a:normAutofit fontScale="92500" lnSpcReduction="20000"/>
          </a:bodyPr>
          <a:lstStyle/>
          <a:p>
            <a:pPr algn="just">
              <a:buNone/>
            </a:pPr>
            <a:r>
              <a:rPr lang="en-US" sz="1800" dirty="0">
                <a:solidFill>
                  <a:schemeClr val="tx1"/>
                </a:solidFill>
                <a:effectLst/>
                <a:ea typeface="Calibri" panose="020F0502020204030204" pitchFamily="34" charset="0"/>
                <a:cs typeface="Calibri" panose="020F0502020204030204" pitchFamily="34" charset="0"/>
              </a:rPr>
              <a:t>Warranties and Life Support Statement:</a:t>
            </a:r>
            <a:endParaRPr lang="fr-FR" sz="180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This publication and the information herein may be used only with Microchip products, including to design, test, and integrate Microchip products with your application. Use of this information in any other manner violates these terms. Information regarding device applications is provided only for your convenience and may be superseded by updates. It is your responsibility to ensure that your application meets with your specifications. Contact your local Microchip sales office for additional support or, obtain additional support at </a:t>
            </a:r>
            <a:r>
              <a:rPr lang="en-US" sz="1800" b="0" u="sng" dirty="0">
                <a:solidFill>
                  <a:schemeClr val="tx1"/>
                </a:solidFill>
                <a:effectLst/>
                <a:ea typeface="Calibri" panose="020F0502020204030204" pitchFamily="34" charset="0"/>
                <a:cs typeface="Calibri" panose="020F0502020204030204" pitchFamily="34" charset="0"/>
                <a:hlinkClick r:id="rId2">
                  <a:extLst>
                    <a:ext uri="{A12FA001-AC4F-418D-AE19-62706E023703}">
                      <ahyp:hlinkClr xmlns:ahyp="http://schemas.microsoft.com/office/drawing/2018/hyperlinkcolor" val="tx"/>
                    </a:ext>
                  </a:extLst>
                </a:hlinkClick>
              </a:rPr>
              <a:t>https://www.microchip.com/en-us/support/design-help/client-support-services</a:t>
            </a:r>
            <a:r>
              <a:rPr lang="en-US" sz="1800" b="0" dirty="0">
                <a:solidFill>
                  <a:schemeClr val="tx1"/>
                </a:solidFill>
                <a:effectLst/>
                <a:ea typeface="Calibri" panose="020F0502020204030204" pitchFamily="34" charset="0"/>
                <a:cs typeface="Calibri" panose="020F0502020204030204" pitchFamily="34" charset="0"/>
              </a:rPr>
              <a:t>.</a:t>
            </a:r>
            <a:endParaRPr lang="fr-FR" sz="1800" b="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 </a:t>
            </a:r>
            <a:endParaRPr lang="fr-FR" sz="1800" b="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THIS INFORMATION IS PROVIDED BY MICROCHIP "AS IS". MICROCHIP MAKES NO REPRESENTATIONS OR WAR- RANTIES OF ANY KIND WHETHER EXPRESS OR IMPLIED, WRITTEN OR ORAL, STATUTORY OR OTHERWISE, RELATED TO THE INFORMATION INCLUDING BUT NOT LIMITED TO ANY IMPLIED WARRANTIES OF NON- INFRINGEMENT, MERCHANTABILITY, AND FITNESS FOR A PARTICULAR PURPOSE, OR WARRANTIES RELATED TO ITS CONDITION, QUALITY, OR PERFORMANCE.</a:t>
            </a:r>
            <a:endParaRPr lang="fr-FR" sz="1800" b="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 </a:t>
            </a:r>
            <a:endParaRPr lang="fr-FR" sz="1800" b="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IN NO EVENT WILL MICROCHIP BE LIABLE FOR ANY INDIRECT, SPECIAL, PUNITIVE, INCIDENTAL, OR CONSEQUENTIAL LOSS, DAMAGE, COST, OR EXPENSE OF ANY KIND WHATSOEVER RELATED TO THE INFORMATION OR ITS USE, HOWEVER CAUSED, EVEN IF MICROCHIP HAS BEEN ADVISED OF THE POSSIBILITY OR THE DAMAGES ARE FORESEEABLE. TO THE FULLEST EXTENT ALLOWED BY LAW, MICROCHIP'S TOTAL LIABILITY ON ALL CLAIMS IN ANY WAY RELATED TO THE INFORMATION OR ITS USE WILL NOT EXCEED THE AMOUNT OF FEES, IF ANY, THAT YOU HAVE PAID DIRECTLY TO MICROCHIP FOR THE INFORMATION. </a:t>
            </a:r>
            <a:endParaRPr lang="fr-FR" sz="1800" b="0" dirty="0">
              <a:solidFill>
                <a:schemeClr val="tx1"/>
              </a:solidFill>
              <a:effectLst/>
              <a:ea typeface="Calibri" panose="020F0502020204030204" pitchFamily="34" charset="0"/>
              <a:cs typeface="Calibri" panose="020F0502020204030204" pitchFamily="34" charset="0"/>
            </a:endParaRPr>
          </a:p>
          <a:p>
            <a:pPr algn="just">
              <a:buNone/>
            </a:pPr>
            <a:r>
              <a:rPr lang="en-US" sz="1800" b="0" dirty="0">
                <a:solidFill>
                  <a:schemeClr val="tx1"/>
                </a:solidFill>
                <a:effectLst/>
                <a:ea typeface="Calibri" panose="020F0502020204030204" pitchFamily="34" charset="0"/>
                <a:cs typeface="Calibri" panose="020F0502020204030204" pitchFamily="34" charset="0"/>
              </a:rPr>
              <a:t> </a:t>
            </a:r>
            <a:endParaRPr lang="fr-FR" sz="1800" b="0" dirty="0">
              <a:solidFill>
                <a:schemeClr val="tx1"/>
              </a:solidFill>
              <a:effectLst/>
              <a:ea typeface="Calibri" panose="020F0502020204030204" pitchFamily="34" charset="0"/>
              <a:cs typeface="Calibri" panose="020F0502020204030204" pitchFamily="34" charset="0"/>
            </a:endParaRPr>
          </a:p>
          <a:p>
            <a:pPr algn="just"/>
            <a:r>
              <a:rPr lang="en-US" sz="1800" b="0" dirty="0">
                <a:solidFill>
                  <a:schemeClr val="tx1"/>
                </a:solidFill>
                <a:effectLst/>
                <a:ea typeface="Calibri" panose="020F0502020204030204" pitchFamily="34" charset="0"/>
                <a:cs typeface="Calibri" panose="020F0502020204030204" pitchFamily="34" charset="0"/>
              </a:rPr>
              <a:t>Use of Microchip devices in life support and/or safety applications is entirely at the buyer's risk, and the buyer agrees to defend, indemnify and hold harmless Microchip from any and all damages, claims, suits, or expenses resulting from such use. No licenses are conveyed, implicitly or otherwise, under any Microchip intellectual property rights unless otherwise stated.</a:t>
            </a:r>
            <a:endParaRPr lang="fr-FR" sz="1800" b="0" dirty="0">
              <a:solidFill>
                <a:schemeClr val="tx1"/>
              </a:solidFill>
              <a:effectLst/>
              <a:ea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3448660698"/>
      </p:ext>
    </p:extLst>
  </p:cSld>
  <p:clrMapOvr>
    <a:masterClrMapping/>
  </p:clrMapOvr>
</p:sld>
</file>

<file path=ppt/theme/theme1.xml><?xml version="1.0" encoding="utf-8"?>
<a:theme xmlns:a="http://schemas.openxmlformats.org/drawingml/2006/main" name="Office Theme">
  <a:themeElements>
    <a:clrScheme name="03122020a">
      <a:dk1>
        <a:srgbClr val="0A0B0F"/>
      </a:dk1>
      <a:lt1>
        <a:srgbClr val="FFFFFF"/>
      </a:lt1>
      <a:dk2>
        <a:srgbClr val="FFFFFF"/>
      </a:dk2>
      <a:lt2>
        <a:srgbClr val="1D9CE5"/>
      </a:lt2>
      <a:accent1>
        <a:srgbClr val="0E3689"/>
      </a:accent1>
      <a:accent2>
        <a:srgbClr val="FD7F20"/>
      </a:accent2>
      <a:accent3>
        <a:srgbClr val="1D9CE4"/>
      </a:accent3>
      <a:accent4>
        <a:srgbClr val="5EBF33"/>
      </a:accent4>
      <a:accent5>
        <a:srgbClr val="702076"/>
      </a:accent5>
      <a:accent6>
        <a:srgbClr val="FFD53A"/>
      </a:accent6>
      <a:hlink>
        <a:srgbClr val="45A8C4"/>
      </a:hlink>
      <a:folHlink>
        <a:srgbClr val="45A8C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60000"/>
            <a:lumOff val="40000"/>
          </a:schemeClr>
        </a:solidFill>
        <a:ln>
          <a:no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1">
          <a:schemeClr val="accent1"/>
        </a:lnRef>
        <a:fillRef idx="3">
          <a:schemeClr val="accent1"/>
        </a:fillRef>
        <a:effectRef idx="2">
          <a:schemeClr val="accent1"/>
        </a:effectRef>
        <a:fontRef idx="minor">
          <a:schemeClr val="lt1"/>
        </a:fontRef>
      </a:style>
    </a:spDef>
    <a:lnDef>
      <a:spPr>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CHP-Corporate PowerPointTemplate-16x9-2020.pptx" id="{059C0D3C-043C-42D3-9B67-672D62DF1B97}" vid="{F9DAF95E-4463-407E-A35D-6798239C3C1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F2FBDE82520C946BD19273829A3FFFC" ma:contentTypeVersion="4" ma:contentTypeDescription="Create a new document." ma:contentTypeScope="" ma:versionID="50c5e65b19863e8d065a2d40019bd2d8">
  <xsd:schema xmlns:xsd="http://www.w3.org/2001/XMLSchema" xmlns:xs="http://www.w3.org/2001/XMLSchema" xmlns:p="http://schemas.microsoft.com/office/2006/metadata/properties" xmlns:ns2="86f0cdac-08b0-4f30-9b7e-d8e4901616ad" xmlns:ns3="84c79faf-5eef-43a9-94fb-365a6db7a8a8" targetNamespace="http://schemas.microsoft.com/office/2006/metadata/properties" ma:root="true" ma:fieldsID="bda8ddf0c4465ac7b0da2d05a52ad039" ns2:_="" ns3:_="">
    <xsd:import namespace="86f0cdac-08b0-4f30-9b7e-d8e4901616ad"/>
    <xsd:import namespace="84c79faf-5eef-43a9-94fb-365a6db7a8a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f0cdac-08b0-4f30-9b7e-d8e4901616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4c79faf-5eef-43a9-94fb-365a6db7a8a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5774815-801A-4D0C-AAC8-304A8EA5EAE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0CE24DD7-9317-4AD8-82D4-5A6998DA79C7}">
  <ds:schemaRefs>
    <ds:schemaRef ds:uri="http://schemas.microsoft.com/sharepoint/v3/contenttype/forms"/>
  </ds:schemaRefs>
</ds:datastoreItem>
</file>

<file path=customXml/itemProps3.xml><?xml version="1.0" encoding="utf-8"?>
<ds:datastoreItem xmlns:ds="http://schemas.openxmlformats.org/officeDocument/2006/customXml" ds:itemID="{537C6A53-BA5E-4CA6-A840-CF60C6CE6D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f0cdac-08b0-4f30-9b7e-d8e4901616ad"/>
    <ds:schemaRef ds:uri="84c79faf-5eef-43a9-94fb-365a6db7a8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MCHP-Corporate PowerPointTemplate-16x9-2020</Template>
  <TotalTime>5048</TotalTime>
  <Words>2422</Words>
  <Application>Microsoft Office PowerPoint</Application>
  <PresentationFormat>Custom</PresentationFormat>
  <Paragraphs>280</Paragraphs>
  <Slides>25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Calibri Light</vt:lpstr>
      <vt:lpstr>Gill Sans MT</vt:lpstr>
      <vt:lpstr>Roboto</vt:lpstr>
      <vt:lpstr>Times New Roman</vt:lpstr>
      <vt:lpstr>Wingdings</vt:lpstr>
      <vt:lpstr>Office Theme</vt:lpstr>
      <vt:lpstr>ML Model Training</vt:lpstr>
      <vt:lpstr>TensorFlow</vt:lpstr>
      <vt:lpstr>CNN-based approach</vt:lpstr>
      <vt:lpstr>CNN-based approach</vt:lpstr>
      <vt:lpstr>Software Environment</vt:lpstr>
      <vt:lpstr>Microchip MPU Software Support</vt:lpstr>
      <vt:lpstr>Typical flow for a Linux AI/ML Application</vt:lpstr>
      <vt:lpstr>Microchip MPU Software Support</vt:lpstr>
      <vt:lpstr>Typical flow for a MPLAB Harmony v3 Application</vt:lpstr>
      <vt:lpstr>Bring Your Own Model</vt:lpstr>
      <vt:lpstr>What is TensorFlow Lite for Microcontrollers?</vt:lpstr>
      <vt:lpstr>Harmony 3 Examples - v1.0.0 Release</vt:lpstr>
      <vt:lpstr>Add TFLite Micro to your project</vt:lpstr>
      <vt:lpstr>Add TFLite Micro to your project</vt:lpstr>
      <vt:lpstr>Model Creation, Training, Evaluation and Deployment</vt:lpstr>
      <vt:lpstr>Step 3: Build and Train an ANN Model </vt:lpstr>
      <vt:lpstr>Step 3: Build and Train a CNN Model </vt:lpstr>
      <vt:lpstr>Step 3: Build and Train a CNN Model </vt:lpstr>
      <vt:lpstr>Step 4: Convert to TensorFlow Lite and Optimize for MPUs </vt:lpstr>
      <vt:lpstr>Step 5: Convert TensorFlow Lite Model to C Source File </vt:lpstr>
      <vt:lpstr>Step 6: Deploy the Model on a Microprocessor </vt:lpstr>
      <vt:lpstr>PowerPoint Presentation</vt:lpstr>
      <vt:lpstr>Reference Code &amp; Porting</vt:lpstr>
      <vt:lpstr>Other Resources</vt:lpstr>
      <vt:lpstr>PowerPoint Presentation</vt:lpstr>
    </vt:vector>
  </TitlesOfParts>
  <Company>Microchip Technology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Hakim Cherif - M69710</dc:creator>
  <cp:lastModifiedBy>Swapna Gurumani - C40450</cp:lastModifiedBy>
  <cp:revision>57</cp:revision>
  <dcterms:created xsi:type="dcterms:W3CDTF">2025-04-28T14:21:28Z</dcterms:created>
  <dcterms:modified xsi:type="dcterms:W3CDTF">2025-06-06T06:23:15Z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DocIdItemGuid">
    <vt:lpwstr>8fbba442-8e62-441a-8a37-77e419e57804</vt:lpwstr>
  </property>
  <property fmtid="{D5CDD505-2E9C-101B-9397-08002B2CF9AE}" pid="3" name="ContentTypeId">
    <vt:lpwstr>0x0101006F2FBDE82520C946BD19273829A3FFFC</vt:lpwstr>
  </property>
</Properties>
</file>